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699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Dobar dan svima. Danas ćemo razgovarati o tome kako možemo unaprijediti timsko pisanje za znanstvene radove i projekte. Predstavit ćemo vam novi pristup koji donosi potpunu kontrolu nad vašim dokumentima. Naš je cilj modernizirati radne procese ovdje na Fakultetu građevinarstva, arhitekture i geodezije. Kroz ovu radionicu, naučit ćete kako iskoristiti automatizaciju i suradnju za efikasnije pisanje. Ali prije nego što zaronimo u rješenja, pogledajmo s kojim se problemima svakodnevno susrećemo.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Svi smo se našli u situaciji gdje tražimo onu 'pravu' verziju dokumenta, zar ne? Gubimo dragocjeno vrijeme na spajanje komentara i ručno formatiranje, umjesto da se fokusiramo na sam sadržaj. Ovo nije problem ljudi, već zastarjelog sustava rada koji nas tjera na neučinkovitost. Vrijeme je da prepoznamo da je problem u procesu, a ne u nama. Sada ćemo vidjeti kako se taj problem rješava novim pristupom.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Dakle, suočeni smo s kaosom starih metoda, gdje svatko ima svoju verziju i promjene se lako gube. Novi način donosi sustav: jednu, uvijek aktualnu verziju dokumenta za sve. To znači da su sve izmjene trajno sačuvane i točno znate tko je što i kada promijenio. Najbolje od svega, dokument se automatski oblikuje, oslobađajući vas od mukotrpnog formatiranja. Ova promjena vodi nas do jedne važne paradigme.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Ova promjena paradigme znači da prestajete biti grafički urednik i fokusirate se isključivo na sadržaj. Vi pišete samo čisti tekst, a računalo se brine za profesionalno oblikovanje. Cilj nije da pišete drugačije, već da pišete efikasnije, bez distrakcija. To nas dovodi do toga zašto je ovaj pristup posebno privlačan za alate umjetne inteligencije.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odnosno umjetna inteligencija, obožava čisti tekst, posebno Markdown. Markdown je nativni jezik modernih AI alata poput ChatGPT-a i Claudea, što znači da AI brže i bolje razumije vaše pisanje. To olakšava sažimanje, prevođenje i generiranje složenih tablica. Vaš repozitorij postaje strukturirana baza znanja za vašeg privatnog AI asistenta. Rezultat je jasan: pišete manje, a dobivate više kroz inteligentnu podršku. Sada ćemo pogledati tri jednostavna alata koja nam omogućuju ovaj novi način rada.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Ovo nije samo teorija; imamo tri konkretna alata koja nam omogućuju ovaj novi način rada. Najbolje od svega, ne trebate biti programer da biste ih koristili. Zamislite Obsidian kao vaš Word, ali pametniji. On vam omogućuje pisanje bez ometanja, fokusirajući se isključivo na sadržaj, a sprema čisti tekst koji AI obožava. Git je vaš osobni vremenski stroj; on čuva svaku verziju vašeg dokumenta, omogućujući vam da se vratite na bilo koju točku u prošlosti, bez straha od gubitka podataka. I na kraju, Quarto je vaš robot za oblikovanje; on automatski pretvara vaš čisti tekst u savršeno formatiran PDF ili DOCX, prateći službene predloške. Sada, da vidimo kako to izgleda u praksi, korak po korak.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Dakle, kako izgleda vaš svakodnevni rad s ovim sustavom? To je zapravo vrlo jednostavno i sastoji se od samo tri koraka. Prvo, pišete u Obsidianu, baš kao što biste pisali u Wordu, ali bez brige o formatiranju. Vaš fokus je isključivo na sadržaju. Zatim, jednim klikom spremate svoje izmjene, a kolege ih pregledavaju i odobravaju putem Pull Requesta, što osigurava da se sve promjene prate i odobravaju. I na kraju, sustav automatski generira finalni dokument u željenom formatu, s ugrađenim dizajnom. Ovaj proces nam omogućuje da se riješimo kaosa s verzijama i pređemo na modularno pisanje.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Jedna od najvećih prednosti ovog sustava je modularno pisanje, koje eliminira 'merge' konflikte. Zamislite da veliki dokument podijelite na manje, logične dijelove, kao što su uvod, razrada i zaključak. Više ljudi može raditi na različitim dijelovima istovremeno, bez međusobnog ometanja. Ana može pisati uvod, Marko razradu, a Ivan zaključak, svatko u svom dijelu. Na kraju, Quarto automatski spaja sve te dijelove u jednu cjelinu, bilo da je to PDF ili DOCX. To znači da su konflikti u spajanju, oni frustrirajući problemi s verzijama, matematički nemogući. Ali, kada je ovaj sustav najkorisniji?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Naravno, ovaj sustav nije za sve, ali je izuzetno moćan za određene vrste projekata. Najbolje ga je koristiti za EU projektne prijave, diplomske i doktorske radove, timske elaborate i dugoročnu znanstvenu dokumentaciju. To su dokumenti koji zahtijevaju preciznost, suradnju i dugoročno održavanje. S druge strane, za kratke interne dopise ili jednokratne bilješke, možda je previše. Ključno je prepoznati gdje ovaj sustav donosi najveću vrijednost. A sada, kako možete početi već danas?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Nema potrebe čekati; možete započeti s pilot fazom već danas. Prvi korak je instalacija alata: Git, Quarto CLI i Obsidian. Zatim, preuzmite gotov fakultetski Template repozitorij koji već ima sve potrebne stilove. Uključite 'Obsidian Git' plugin za automatsko spremanje, što znači da se vaše promjene automatski čuvaju svakih 15 minuta. I na kraju, jednostavno počnite pisati. Fokusirajte se na tekst i strukturu, a dizajn prepustite sustavu. Vaš novi, čisti radni stol vas čeka. Sretno!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1057275" y="1381953"/>
            <a:ext cx="7029450" cy="2365307"/>
          </a:xfrm>
          <a:prstGeom prst="rect">
            <a:avLst/>
          </a:prstGeom>
          <a:solidFill>
            <a:srgbClr val="FFFFFF"/>
          </a:solidFill>
          <a:ln w="18288">
            <a:solidFill>
              <a:srgbClr val="212529"/>
            </a:solidFill>
            <a:prstDash val="solid"/>
          </a:ln>
        </p:spPr>
        <p:txBody>
          <a:bodyPr/>
          <a:lstStyle/>
          <a:p>
            <a:endParaRPr lang="hr-HR"/>
          </a:p>
        </p:txBody>
      </p:sp>
      <p:sp>
        <p:nvSpPr>
          <p:cNvPr id="5" name="Text 1"/>
          <p:cNvSpPr/>
          <p:nvPr/>
        </p:nvSpPr>
        <p:spPr>
          <a:xfrm>
            <a:off x="1357313" y="2111732"/>
            <a:ext cx="6429375" cy="822927"/>
          </a:xfrm>
          <a:prstGeom prst="rect">
            <a:avLst/>
          </a:prstGeom>
          <a:noFill/>
          <a:ln/>
        </p:spPr>
        <p:txBody>
          <a:bodyPr wrap="square" lIns="0" tIns="0" rIns="0" bIns="0" rtlCol="0" anchor="t">
            <a:spAutoFit/>
          </a:bodyPr>
          <a:lstStyle/>
          <a:p>
            <a:pPr marL="0" indent="0" algn="ctr">
              <a:lnSpc>
                <a:spcPct val="96000"/>
              </a:lnSpc>
              <a:buNone/>
            </a:pPr>
            <a:r>
              <a:rPr lang="en-US" sz="2450" b="1" dirty="0">
                <a:solidFill>
                  <a:srgbClr val="212529"/>
                </a:solidFill>
                <a:latin typeface="Space Grotesk SemiBold" pitchFamily="34" charset="0"/>
                <a:ea typeface="Space Grotesk SemiBold" pitchFamily="34" charset="-122"/>
                <a:cs typeface="Space Grotesk SemiBold" pitchFamily="34" charset="-120"/>
              </a:rPr>
              <a:t>Digitalna radionica: Novi način timskog pisanja za znanost i projekte</a:t>
            </a:r>
            <a:endParaRPr lang="en-US" sz="2450" dirty="0"/>
          </a:p>
        </p:txBody>
      </p:sp>
      <p:sp>
        <p:nvSpPr>
          <p:cNvPr id="6" name="Text 2"/>
          <p:cNvSpPr/>
          <p:nvPr/>
        </p:nvSpPr>
        <p:spPr>
          <a:xfrm>
            <a:off x="1357313" y="3106108"/>
            <a:ext cx="6429375" cy="226814"/>
          </a:xfrm>
          <a:prstGeom prst="rect">
            <a:avLst/>
          </a:prstGeom>
          <a:noFill/>
          <a:ln/>
        </p:spPr>
        <p:txBody>
          <a:bodyPr wrap="square" lIns="0" tIns="0" rIns="0" bIns="0" rtlCol="0" anchor="t">
            <a:spAutoFit/>
          </a:bodyPr>
          <a:lstStyle/>
          <a:p>
            <a:pPr marL="0" indent="0" algn="ctr">
              <a:buNone/>
            </a:pPr>
            <a:r>
              <a:rPr lang="en-US" sz="1250" dirty="0">
                <a:solidFill>
                  <a:srgbClr val="0D6EFD"/>
                </a:solidFill>
                <a:latin typeface="JetBrains Mono SemiBold" pitchFamily="34" charset="0"/>
                <a:ea typeface="JetBrains Mono SemiBold" pitchFamily="34" charset="-122"/>
                <a:cs typeface="JetBrains Mono SemiBold" pitchFamily="34" charset="-120"/>
              </a:rPr>
              <a:t>DOCUMENTS-AS-CODE PROCES — PUNA KONTROLA NAD DOKUMENTIMA</a:t>
            </a:r>
            <a:endParaRPr lang="en-US" sz="1250" dirty="0"/>
          </a:p>
        </p:txBody>
      </p:sp>
      <p:sp>
        <p:nvSpPr>
          <p:cNvPr id="7" name="Text 3"/>
          <p:cNvSpPr/>
          <p:nvPr/>
        </p:nvSpPr>
        <p:spPr>
          <a:xfrm>
            <a:off x="0" y="4843463"/>
            <a:ext cx="9144000" cy="121444"/>
          </a:xfrm>
          <a:prstGeom prst="rect">
            <a:avLst/>
          </a:prstGeom>
          <a:noFill/>
          <a:ln/>
        </p:spPr>
        <p:txBody>
          <a:bodyPr wrap="square" lIns="0" tIns="0" rIns="0" bIns="0" rtlCol="0" anchor="t">
            <a:spAutoFit/>
          </a:bodyPr>
          <a:lstStyle/>
          <a:p>
            <a:pPr marL="0" indent="0" algn="ctr">
              <a:buNone/>
            </a:pPr>
            <a:r>
              <a:rPr lang="en-US" sz="750" dirty="0">
                <a:solidFill>
                  <a:srgbClr val="6C757D"/>
                </a:solidFill>
                <a:latin typeface="Inter" pitchFamily="34" charset="0"/>
                <a:ea typeface="Inter" pitchFamily="34" charset="-122"/>
                <a:cs typeface="Inter" pitchFamily="34" charset="-120"/>
              </a:rPr>
              <a:t>Sveučilište u Splitu | Fakultet građevinarstva, arhitekture i geodezije</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214312" y="657225"/>
            <a:ext cx="3047981" cy="2150269"/>
          </a:xfrm>
          <a:prstGeom prst="rect">
            <a:avLst/>
          </a:prstGeom>
          <a:solidFill>
            <a:srgbClr val="FFFFFF"/>
          </a:solidFill>
          <a:ln/>
        </p:spPr>
        <p:txBody>
          <a:bodyPr/>
          <a:lstStyle/>
          <a:p>
            <a:endParaRPr lang="hr-HR"/>
          </a:p>
        </p:txBody>
      </p:sp>
      <p:sp>
        <p:nvSpPr>
          <p:cNvPr id="5" name="Shape 1"/>
          <p:cNvSpPr/>
          <p:nvPr/>
        </p:nvSpPr>
        <p:spPr>
          <a:xfrm>
            <a:off x="3255150" y="657225"/>
            <a:ext cx="7144" cy="2150269"/>
          </a:xfrm>
          <a:prstGeom prst="rect">
            <a:avLst/>
          </a:prstGeom>
          <a:solidFill>
            <a:srgbClr val="DEE2E6"/>
          </a:solidFill>
          <a:ln/>
        </p:spPr>
        <p:txBody>
          <a:bodyPr/>
          <a:lstStyle/>
          <a:p>
            <a:endParaRPr lang="hr-HR"/>
          </a:p>
        </p:txBody>
      </p:sp>
      <p:sp>
        <p:nvSpPr>
          <p:cNvPr id="6" name="Text 2"/>
          <p:cNvSpPr/>
          <p:nvPr/>
        </p:nvSpPr>
        <p:spPr>
          <a:xfrm>
            <a:off x="214312" y="1000125"/>
            <a:ext cx="3047981" cy="132159"/>
          </a:xfrm>
          <a:prstGeom prst="rect">
            <a:avLst/>
          </a:prstGeom>
          <a:noFill/>
          <a:ln/>
        </p:spPr>
        <p:txBody>
          <a:bodyPr wrap="square" lIns="204089" tIns="0" rIns="0" bIns="0" rtlCol="0" anchor="t">
            <a:spAutoFit/>
          </a:bodyPr>
          <a:lstStyle/>
          <a:p>
            <a:pPr marL="0" indent="0" algn="l">
              <a:buNone/>
            </a:pPr>
            <a:r>
              <a:rPr lang="en-US" sz="750" dirty="0">
                <a:solidFill>
                  <a:srgbClr val="0D6EFD"/>
                </a:solidFill>
                <a:latin typeface="JetBrains Mono SemiBold" pitchFamily="34" charset="0"/>
                <a:ea typeface="JetBrains Mono SemiBold" pitchFamily="34" charset="-122"/>
                <a:cs typeface="JetBrains Mono SemiBold" pitchFamily="34" charset="-120"/>
              </a:rPr>
              <a:t>EXPLORER: DOKUMENTI</a:t>
            </a:r>
            <a:endParaRPr lang="en-US" sz="750" dirty="0"/>
          </a:p>
        </p:txBody>
      </p:sp>
      <p:sp>
        <p:nvSpPr>
          <p:cNvPr id="7" name="Shape 3"/>
          <p:cNvSpPr/>
          <p:nvPr/>
        </p:nvSpPr>
        <p:spPr>
          <a:xfrm>
            <a:off x="385762" y="1218009"/>
            <a:ext cx="2301208" cy="260747"/>
          </a:xfrm>
          <a:prstGeom prst="rect">
            <a:avLst/>
          </a:prstGeom>
          <a:solidFill>
            <a:srgbClr val="F1F3F5"/>
          </a:solidFill>
          <a:ln w="9144">
            <a:solidFill>
              <a:srgbClr val="DEE2E6"/>
            </a:solidFill>
            <a:prstDash val="solid"/>
          </a:ln>
        </p:spPr>
        <p:txBody>
          <a:bodyPr/>
          <a:lstStyle/>
          <a:p>
            <a:endParaRPr lang="hr-HR"/>
          </a:p>
        </p:txBody>
      </p:sp>
      <p:sp>
        <p:nvSpPr>
          <p:cNvPr id="8" name="Text 4"/>
          <p:cNvSpPr/>
          <p:nvPr/>
        </p:nvSpPr>
        <p:spPr>
          <a:xfrm>
            <a:off x="385762" y="1218009"/>
            <a:ext cx="2301208" cy="260747"/>
          </a:xfrm>
          <a:prstGeom prst="rect">
            <a:avLst/>
          </a:prstGeom>
          <a:noFill/>
          <a:ln/>
        </p:spPr>
        <p:txBody>
          <a:bodyPr wrap="square" lIns="68072" tIns="68072" rIns="68072" bIns="68072" rtlCol="0" anchor="t">
            <a:spAutoFit/>
          </a:bodyPr>
          <a:lstStyle/>
          <a:p>
            <a:pPr marL="0" indent="0" algn="l">
              <a:buNone/>
            </a:pPr>
            <a:r>
              <a:rPr lang="en-US" sz="750" dirty="0">
                <a:solidFill>
                  <a:srgbClr val="212529"/>
                </a:solidFill>
                <a:latin typeface="JetBrains Mono SemiBold" pitchFamily="34" charset="0"/>
                <a:ea typeface="JetBrains Mono SemiBold" pitchFamily="34" charset="-122"/>
                <a:cs typeface="JetBrains Mono SemiBold" pitchFamily="34" charset="-120"/>
              </a:rPr>
              <a:t>Izvješće_v1_final.docx</a:t>
            </a:r>
            <a:endParaRPr lang="en-US" sz="750" dirty="0"/>
          </a:p>
        </p:txBody>
      </p:sp>
      <p:sp>
        <p:nvSpPr>
          <p:cNvPr id="9" name="Shape 5"/>
          <p:cNvSpPr/>
          <p:nvPr/>
        </p:nvSpPr>
        <p:spPr>
          <a:xfrm>
            <a:off x="385762" y="1521619"/>
            <a:ext cx="2301208" cy="260747"/>
          </a:xfrm>
          <a:prstGeom prst="rect">
            <a:avLst/>
          </a:prstGeom>
          <a:solidFill>
            <a:srgbClr val="F1F3F5"/>
          </a:solidFill>
          <a:ln w="9144">
            <a:solidFill>
              <a:srgbClr val="DEE2E6"/>
            </a:solidFill>
            <a:prstDash val="solid"/>
          </a:ln>
        </p:spPr>
        <p:txBody>
          <a:bodyPr/>
          <a:lstStyle/>
          <a:p>
            <a:endParaRPr lang="hr-HR"/>
          </a:p>
        </p:txBody>
      </p:sp>
      <p:sp>
        <p:nvSpPr>
          <p:cNvPr id="10" name="Text 6"/>
          <p:cNvSpPr/>
          <p:nvPr/>
        </p:nvSpPr>
        <p:spPr>
          <a:xfrm>
            <a:off x="385762" y="1521619"/>
            <a:ext cx="2301208" cy="260747"/>
          </a:xfrm>
          <a:prstGeom prst="rect">
            <a:avLst/>
          </a:prstGeom>
          <a:noFill/>
          <a:ln/>
        </p:spPr>
        <p:txBody>
          <a:bodyPr wrap="square" lIns="68072" tIns="68072" rIns="68072" bIns="68072" rtlCol="0" anchor="t">
            <a:spAutoFit/>
          </a:bodyPr>
          <a:lstStyle/>
          <a:p>
            <a:pPr marL="0" indent="0" algn="l">
              <a:buNone/>
            </a:pPr>
            <a:r>
              <a:rPr lang="en-US" sz="750" dirty="0">
                <a:solidFill>
                  <a:srgbClr val="212529"/>
                </a:solidFill>
                <a:latin typeface="JetBrains Mono SemiBold" pitchFamily="34" charset="0"/>
                <a:ea typeface="JetBrains Mono SemiBold" pitchFamily="34" charset="-122"/>
                <a:cs typeface="JetBrains Mono SemiBold" pitchFamily="34" charset="-120"/>
              </a:rPr>
              <a:t>Izvješće_v1_final_konačno.docx</a:t>
            </a:r>
            <a:endParaRPr lang="en-US" sz="750" dirty="0"/>
          </a:p>
        </p:txBody>
      </p:sp>
      <p:sp>
        <p:nvSpPr>
          <p:cNvPr id="11" name="Shape 7"/>
          <p:cNvSpPr/>
          <p:nvPr/>
        </p:nvSpPr>
        <p:spPr>
          <a:xfrm>
            <a:off x="385762" y="1825228"/>
            <a:ext cx="2301208" cy="260747"/>
          </a:xfrm>
          <a:prstGeom prst="rect">
            <a:avLst/>
          </a:prstGeom>
          <a:solidFill>
            <a:srgbClr val="F1F3F5"/>
          </a:solidFill>
          <a:ln w="9144">
            <a:solidFill>
              <a:srgbClr val="DEE2E6"/>
            </a:solidFill>
            <a:prstDash val="solid"/>
          </a:ln>
        </p:spPr>
        <p:txBody>
          <a:bodyPr/>
          <a:lstStyle/>
          <a:p>
            <a:endParaRPr lang="hr-HR"/>
          </a:p>
        </p:txBody>
      </p:sp>
      <p:sp>
        <p:nvSpPr>
          <p:cNvPr id="12" name="Text 8"/>
          <p:cNvSpPr/>
          <p:nvPr/>
        </p:nvSpPr>
        <p:spPr>
          <a:xfrm>
            <a:off x="385762" y="1825228"/>
            <a:ext cx="2301208" cy="260747"/>
          </a:xfrm>
          <a:prstGeom prst="rect">
            <a:avLst/>
          </a:prstGeom>
          <a:noFill/>
          <a:ln/>
        </p:spPr>
        <p:txBody>
          <a:bodyPr wrap="square" lIns="68072" tIns="68072" rIns="68072" bIns="68072" rtlCol="0" anchor="t">
            <a:spAutoFit/>
          </a:bodyPr>
          <a:lstStyle/>
          <a:p>
            <a:pPr marL="0" indent="0" algn="l">
              <a:buNone/>
            </a:pPr>
            <a:r>
              <a:rPr lang="en-US" sz="750" dirty="0">
                <a:solidFill>
                  <a:srgbClr val="212529"/>
                </a:solidFill>
                <a:latin typeface="JetBrains Mono SemiBold" pitchFamily="34" charset="0"/>
                <a:ea typeface="JetBrains Mono SemiBold" pitchFamily="34" charset="-122"/>
                <a:cs typeface="JetBrains Mono SemiBold" pitchFamily="34" charset="-120"/>
              </a:rPr>
              <a:t>Izvješće_v1_final_konačno_Ana.docx</a:t>
            </a:r>
            <a:endParaRPr lang="en-US" sz="750" dirty="0"/>
          </a:p>
        </p:txBody>
      </p:sp>
      <p:sp>
        <p:nvSpPr>
          <p:cNvPr id="13" name="Shape 9"/>
          <p:cNvSpPr/>
          <p:nvPr/>
        </p:nvSpPr>
        <p:spPr>
          <a:xfrm>
            <a:off x="385762" y="2128838"/>
            <a:ext cx="2301208" cy="260747"/>
          </a:xfrm>
          <a:prstGeom prst="rect">
            <a:avLst/>
          </a:prstGeom>
          <a:solidFill>
            <a:srgbClr val="F1F3F5"/>
          </a:solidFill>
          <a:ln w="9144">
            <a:solidFill>
              <a:srgbClr val="DEE2E6"/>
            </a:solidFill>
            <a:prstDash val="solid"/>
          </a:ln>
        </p:spPr>
        <p:txBody>
          <a:bodyPr/>
          <a:lstStyle/>
          <a:p>
            <a:endParaRPr lang="hr-HR"/>
          </a:p>
        </p:txBody>
      </p:sp>
      <p:sp>
        <p:nvSpPr>
          <p:cNvPr id="14" name="Text 10"/>
          <p:cNvSpPr/>
          <p:nvPr/>
        </p:nvSpPr>
        <p:spPr>
          <a:xfrm>
            <a:off x="385762" y="2128838"/>
            <a:ext cx="2301208" cy="260747"/>
          </a:xfrm>
          <a:prstGeom prst="rect">
            <a:avLst/>
          </a:prstGeom>
          <a:noFill/>
          <a:ln/>
        </p:spPr>
        <p:txBody>
          <a:bodyPr wrap="square" lIns="68072" tIns="68072" rIns="68072" bIns="68072" rtlCol="0" anchor="t">
            <a:spAutoFit/>
          </a:bodyPr>
          <a:lstStyle/>
          <a:p>
            <a:pPr marL="0" indent="0" algn="l">
              <a:buNone/>
            </a:pPr>
            <a:r>
              <a:rPr lang="en-US" sz="750" dirty="0">
                <a:solidFill>
                  <a:srgbClr val="212529"/>
                </a:solidFill>
                <a:latin typeface="JetBrains Mono SemiBold" pitchFamily="34" charset="0"/>
                <a:ea typeface="JetBrains Mono SemiBold" pitchFamily="34" charset="-122"/>
                <a:cs typeface="JetBrains Mono SemiBold" pitchFamily="34" charset="-120"/>
              </a:rPr>
              <a:t>DMP_2025_verzija_za_EU.docx</a:t>
            </a:r>
            <a:endParaRPr lang="en-US" sz="750" dirty="0"/>
          </a:p>
        </p:txBody>
      </p:sp>
      <p:sp>
        <p:nvSpPr>
          <p:cNvPr id="15" name="Shape 11"/>
          <p:cNvSpPr/>
          <p:nvPr/>
        </p:nvSpPr>
        <p:spPr>
          <a:xfrm>
            <a:off x="385762" y="2432447"/>
            <a:ext cx="2301208" cy="260747"/>
          </a:xfrm>
          <a:prstGeom prst="rect">
            <a:avLst/>
          </a:prstGeom>
          <a:solidFill>
            <a:srgbClr val="F1F3F5"/>
          </a:solidFill>
          <a:ln w="9144">
            <a:solidFill>
              <a:srgbClr val="DEE2E6"/>
            </a:solidFill>
            <a:prstDash val="solid"/>
          </a:ln>
        </p:spPr>
        <p:txBody>
          <a:bodyPr/>
          <a:lstStyle/>
          <a:p>
            <a:endParaRPr lang="hr-HR"/>
          </a:p>
        </p:txBody>
      </p:sp>
      <p:sp>
        <p:nvSpPr>
          <p:cNvPr id="16" name="Text 12"/>
          <p:cNvSpPr/>
          <p:nvPr/>
        </p:nvSpPr>
        <p:spPr>
          <a:xfrm>
            <a:off x="385762" y="2432447"/>
            <a:ext cx="2301208" cy="260747"/>
          </a:xfrm>
          <a:prstGeom prst="rect">
            <a:avLst/>
          </a:prstGeom>
          <a:noFill/>
          <a:ln/>
        </p:spPr>
        <p:txBody>
          <a:bodyPr wrap="square" lIns="68072" tIns="68072" rIns="68072" bIns="68072" rtlCol="0" anchor="t">
            <a:spAutoFit/>
          </a:bodyPr>
          <a:lstStyle/>
          <a:p>
            <a:pPr marL="0" indent="0" algn="l">
              <a:buNone/>
            </a:pPr>
            <a:r>
              <a:rPr lang="en-US" sz="750" dirty="0">
                <a:solidFill>
                  <a:srgbClr val="212529"/>
                </a:solidFill>
                <a:latin typeface="JetBrains Mono SemiBold" pitchFamily="34" charset="0"/>
                <a:ea typeface="JetBrains Mono SemiBold" pitchFamily="34" charset="-122"/>
                <a:cs typeface="JetBrains Mono SemiBold" pitchFamily="34" charset="-120"/>
              </a:rPr>
              <a:t>Elaborat_STVARNO_GOTOVO.docx</a:t>
            </a:r>
            <a:endParaRPr lang="en-US" sz="750" dirty="0"/>
          </a:p>
        </p:txBody>
      </p:sp>
      <p:sp>
        <p:nvSpPr>
          <p:cNvPr id="17" name="Text 13"/>
          <p:cNvSpPr/>
          <p:nvPr/>
        </p:nvSpPr>
        <p:spPr>
          <a:xfrm>
            <a:off x="3476606" y="642072"/>
            <a:ext cx="5238769" cy="328613"/>
          </a:xfrm>
          <a:prstGeom prst="rect">
            <a:avLst/>
          </a:prstGeom>
          <a:noFill/>
          <a:ln/>
        </p:spPr>
        <p:txBody>
          <a:bodyPr wrap="square" lIns="0" tIns="0" rIns="0" bIns="0" rtlCol="0" anchor="t">
            <a:spAutoFit/>
          </a:bodyPr>
          <a:lstStyle/>
          <a:p>
            <a:pPr marL="0" indent="0" algn="l">
              <a:buNone/>
            </a:pPr>
            <a:r>
              <a:rPr lang="en-US" sz="1800" b="1" dirty="0">
                <a:solidFill>
                  <a:srgbClr val="212529"/>
                </a:solidFill>
                <a:latin typeface="Space Grotesk SemiBold" pitchFamily="34" charset="0"/>
                <a:ea typeface="Space Grotesk SemiBold" pitchFamily="34" charset="-122"/>
                <a:cs typeface="Space Grotesk SemiBold" pitchFamily="34" charset="-120"/>
              </a:rPr>
              <a:t>Problem: Kaos s verzijama datoteka</a:t>
            </a:r>
            <a:endParaRPr lang="en-US" sz="1800" dirty="0"/>
          </a:p>
        </p:txBody>
      </p:sp>
      <p:sp>
        <p:nvSpPr>
          <p:cNvPr id="18" name="Text 14"/>
          <p:cNvSpPr/>
          <p:nvPr/>
        </p:nvSpPr>
        <p:spPr>
          <a:xfrm>
            <a:off x="3476606" y="1142135"/>
            <a:ext cx="5238769" cy="397545"/>
          </a:xfrm>
          <a:prstGeom prst="rect">
            <a:avLst/>
          </a:prstGeom>
          <a:noFill/>
          <a:ln/>
        </p:spPr>
        <p:txBody>
          <a:bodyPr wrap="square" lIns="0" tIns="0" rIns="0" bIns="0" rtlCol="0" anchor="t">
            <a:spAutoFit/>
          </a:bodyPr>
          <a:lstStyle/>
          <a:p>
            <a:pPr marL="0" indent="0" algn="l">
              <a:lnSpc>
                <a:spcPct val="128000"/>
              </a:lnSpc>
              <a:buNone/>
            </a:pPr>
            <a:r>
              <a:rPr lang="en-US" sz="1050" dirty="0" err="1">
                <a:solidFill>
                  <a:srgbClr val="495057"/>
                </a:solidFill>
                <a:latin typeface="Inter" pitchFamily="34" charset="0"/>
                <a:ea typeface="Inter" pitchFamily="34" charset="-122"/>
                <a:cs typeface="Inter" pitchFamily="34" charset="-120"/>
              </a:rPr>
              <a:t>Gubimo</a:t>
            </a:r>
            <a:r>
              <a:rPr lang="en-US" sz="1050" dirty="0">
                <a:solidFill>
                  <a:srgbClr val="495057"/>
                </a:solidFill>
                <a:latin typeface="Inter" pitchFamily="34" charset="0"/>
                <a:ea typeface="Inter" pitchFamily="34" charset="-122"/>
                <a:cs typeface="Inter" pitchFamily="34" charset="-120"/>
              </a:rPr>
              <a:t> sate na traženje "prave" verzije, spajanje komentara i ručno formatiranje — umjesto da radimo na sadržaju.</a:t>
            </a:r>
            <a:endParaRPr lang="en-US" sz="1050" dirty="0"/>
          </a:p>
        </p:txBody>
      </p:sp>
      <p:sp>
        <p:nvSpPr>
          <p:cNvPr id="19" name="Shape 15"/>
          <p:cNvSpPr/>
          <p:nvPr/>
        </p:nvSpPr>
        <p:spPr>
          <a:xfrm>
            <a:off x="3476606" y="1770785"/>
            <a:ext cx="5238769" cy="480417"/>
          </a:xfrm>
          <a:prstGeom prst="rect">
            <a:avLst/>
          </a:prstGeom>
          <a:solidFill>
            <a:srgbClr val="FFF4E6"/>
          </a:solidFill>
          <a:ln w="9144">
            <a:solidFill>
              <a:srgbClr val="FFD8A8"/>
            </a:solidFill>
            <a:prstDash val="solid"/>
          </a:ln>
        </p:spPr>
        <p:txBody>
          <a:bodyPr/>
          <a:lstStyle/>
          <a:p>
            <a:endParaRPr lang="hr-HR"/>
          </a:p>
        </p:txBody>
      </p:sp>
      <p:pic>
        <p:nvPicPr>
          <p:cNvPr id="20" name="Image 1" descr="preencoded.png"/>
          <p:cNvPicPr>
            <a:picLocks noChangeAspect="1"/>
          </p:cNvPicPr>
          <p:nvPr/>
        </p:nvPicPr>
        <p:blipFill>
          <a:blip r:embed="rId4"/>
          <a:stretch>
            <a:fillRect/>
          </a:stretch>
        </p:blipFill>
        <p:spPr>
          <a:xfrm>
            <a:off x="3619481" y="1995813"/>
            <a:ext cx="114300" cy="114300"/>
          </a:xfrm>
          <a:prstGeom prst="rect">
            <a:avLst/>
          </a:prstGeom>
        </p:spPr>
      </p:pic>
      <p:sp>
        <p:nvSpPr>
          <p:cNvPr id="21" name="Text 16"/>
          <p:cNvSpPr/>
          <p:nvPr/>
        </p:nvSpPr>
        <p:spPr>
          <a:xfrm>
            <a:off x="3733781" y="1985097"/>
            <a:ext cx="2628900" cy="123111"/>
          </a:xfrm>
          <a:prstGeom prst="rect">
            <a:avLst/>
          </a:prstGeom>
          <a:noFill/>
          <a:ln/>
        </p:spPr>
        <p:txBody>
          <a:bodyPr wrap="square" lIns="0" tIns="0" rIns="0" bIns="0" rtlCol="0" anchor="t">
            <a:spAutoFit/>
          </a:bodyPr>
          <a:lstStyle/>
          <a:p>
            <a:pPr marL="0" indent="0" algn="l">
              <a:buNone/>
            </a:pPr>
            <a:r>
              <a:rPr lang="hr-HR" sz="800" dirty="0">
                <a:solidFill>
                  <a:srgbClr val="D9480F"/>
                </a:solidFill>
                <a:latin typeface="Inter" pitchFamily="34" charset="0"/>
                <a:ea typeface="Inter" pitchFamily="34" charset="-122"/>
                <a:cs typeface="Inter" pitchFamily="34" charset="-120"/>
              </a:rPr>
              <a:t> </a:t>
            </a:r>
            <a:r>
              <a:rPr lang="en-US" sz="800" dirty="0">
                <a:solidFill>
                  <a:srgbClr val="D9480F"/>
                </a:solidFill>
                <a:latin typeface="Inter" pitchFamily="34" charset="0"/>
                <a:ea typeface="Inter" pitchFamily="34" charset="-122"/>
                <a:cs typeface="Inter" pitchFamily="34" charset="-120"/>
              </a:rPr>
              <a:t>Ovo </a:t>
            </a:r>
            <a:r>
              <a:rPr lang="hr-HR" sz="800" dirty="0">
                <a:solidFill>
                  <a:srgbClr val="D9480F"/>
                </a:solidFill>
                <a:latin typeface="Inter" pitchFamily="34" charset="0"/>
                <a:ea typeface="Inter" pitchFamily="34" charset="-122"/>
                <a:cs typeface="Inter" pitchFamily="34" charset="-120"/>
              </a:rPr>
              <a:t>nije</a:t>
            </a:r>
            <a:r>
              <a:rPr lang="en-US" sz="800" dirty="0">
                <a:solidFill>
                  <a:srgbClr val="D9480F"/>
                </a:solidFill>
                <a:latin typeface="Inter" pitchFamily="34" charset="0"/>
                <a:ea typeface="Inter" pitchFamily="34" charset="-122"/>
                <a:cs typeface="Inter" pitchFamily="34" charset="-120"/>
              </a:rPr>
              <a:t> problem ljudi. Ovo je problem sustava.</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642072"/>
            <a:ext cx="8715375" cy="276999"/>
          </a:xfrm>
          <a:prstGeom prst="rect">
            <a:avLst/>
          </a:prstGeom>
          <a:noFill/>
          <a:ln/>
        </p:spPr>
        <p:txBody>
          <a:bodyPr wrap="square" lIns="0" tIns="0" rIns="0" bIns="0" rtlCol="0" anchor="t">
            <a:spAutoFit/>
          </a:bodyPr>
          <a:lstStyle/>
          <a:p>
            <a:pPr marL="0" indent="0" algn="l">
              <a:buNone/>
            </a:pPr>
            <a:endParaRPr lang="en-US" sz="1800" dirty="0"/>
          </a:p>
        </p:txBody>
      </p:sp>
      <p:sp>
        <p:nvSpPr>
          <p:cNvPr id="5" name="Shape 1"/>
          <p:cNvSpPr/>
          <p:nvPr/>
        </p:nvSpPr>
        <p:spPr>
          <a:xfrm>
            <a:off x="428625" y="1327007"/>
            <a:ext cx="8286750" cy="1489807"/>
          </a:xfrm>
          <a:prstGeom prst="rect">
            <a:avLst/>
          </a:prstGeom>
          <a:solidFill>
            <a:srgbClr val="FFFFFF"/>
          </a:solidFill>
          <a:ln w="9144">
            <a:solidFill>
              <a:srgbClr val="DEE2E6"/>
            </a:solidFill>
            <a:prstDash val="solid"/>
          </a:ln>
        </p:spPr>
        <p:txBody>
          <a:bodyPr/>
          <a:lstStyle/>
          <a:p>
            <a:endParaRPr lang="hr-HR"/>
          </a:p>
        </p:txBody>
      </p:sp>
      <p:sp>
        <p:nvSpPr>
          <p:cNvPr id="6" name="Shape 2"/>
          <p:cNvSpPr/>
          <p:nvPr/>
        </p:nvSpPr>
        <p:spPr>
          <a:xfrm>
            <a:off x="428625" y="1327007"/>
            <a:ext cx="4143375" cy="269677"/>
          </a:xfrm>
          <a:prstGeom prst="rect">
            <a:avLst/>
          </a:prstGeom>
          <a:solidFill>
            <a:srgbClr val="F1F3F5"/>
          </a:solidFill>
          <a:ln/>
        </p:spPr>
        <p:txBody>
          <a:bodyPr/>
          <a:lstStyle/>
          <a:p>
            <a:endParaRPr lang="hr-HR"/>
          </a:p>
        </p:txBody>
      </p:sp>
      <p:sp>
        <p:nvSpPr>
          <p:cNvPr id="7" name="Shape 3"/>
          <p:cNvSpPr/>
          <p:nvPr/>
        </p:nvSpPr>
        <p:spPr>
          <a:xfrm>
            <a:off x="4564856" y="1327007"/>
            <a:ext cx="7144" cy="269677"/>
          </a:xfrm>
          <a:prstGeom prst="rect">
            <a:avLst/>
          </a:prstGeom>
          <a:solidFill>
            <a:srgbClr val="DEE2E6"/>
          </a:solidFill>
          <a:ln/>
        </p:spPr>
        <p:txBody>
          <a:bodyPr/>
          <a:lstStyle/>
          <a:p>
            <a:endParaRPr lang="hr-HR"/>
          </a:p>
        </p:txBody>
      </p:sp>
      <p:sp>
        <p:nvSpPr>
          <p:cNvPr id="8" name="Shape 4"/>
          <p:cNvSpPr/>
          <p:nvPr/>
        </p:nvSpPr>
        <p:spPr>
          <a:xfrm>
            <a:off x="428625" y="1582396"/>
            <a:ext cx="4143375" cy="14288"/>
          </a:xfrm>
          <a:prstGeom prst="rect">
            <a:avLst/>
          </a:prstGeom>
          <a:solidFill>
            <a:srgbClr val="DEE2E6"/>
          </a:solidFill>
          <a:ln/>
        </p:spPr>
        <p:txBody>
          <a:bodyPr/>
          <a:lstStyle/>
          <a:p>
            <a:endParaRPr lang="hr-HR"/>
          </a:p>
        </p:txBody>
      </p:sp>
      <p:sp>
        <p:nvSpPr>
          <p:cNvPr id="9" name="Text 5"/>
          <p:cNvSpPr/>
          <p:nvPr/>
        </p:nvSpPr>
        <p:spPr>
          <a:xfrm>
            <a:off x="428625" y="1327007"/>
            <a:ext cx="4143375" cy="269677"/>
          </a:xfrm>
          <a:prstGeom prst="rect">
            <a:avLst/>
          </a:prstGeom>
          <a:noFill/>
          <a:ln/>
        </p:spPr>
        <p:txBody>
          <a:bodyPr wrap="square" lIns="170053" tIns="102108" rIns="170053" bIns="0" rtlCol="0" anchor="t">
            <a:spAutoFit/>
          </a:bodyPr>
          <a:lstStyle/>
          <a:p>
            <a:pPr marL="0" indent="0" algn="l">
              <a:buNone/>
            </a:pPr>
            <a:r>
              <a:rPr lang="en-US" sz="950" dirty="0">
                <a:solidFill>
                  <a:srgbClr val="868E96"/>
                </a:solidFill>
                <a:latin typeface="JetBrains Mono SemiBold" pitchFamily="34" charset="0"/>
                <a:ea typeface="JetBrains Mono SemiBold" pitchFamily="34" charset="-122"/>
                <a:cs typeface="JetBrains Mono SemiBold" pitchFamily="34" charset="-120"/>
              </a:rPr>
              <a:t>STARI NAČIN (KAOS)</a:t>
            </a:r>
            <a:endParaRPr lang="en-US" sz="950" dirty="0"/>
          </a:p>
        </p:txBody>
      </p:sp>
      <p:sp>
        <p:nvSpPr>
          <p:cNvPr id="10" name="Shape 6"/>
          <p:cNvSpPr/>
          <p:nvPr/>
        </p:nvSpPr>
        <p:spPr>
          <a:xfrm>
            <a:off x="4572000" y="1327007"/>
            <a:ext cx="4143375" cy="269677"/>
          </a:xfrm>
          <a:prstGeom prst="rect">
            <a:avLst/>
          </a:prstGeom>
          <a:solidFill>
            <a:srgbClr val="F1F3F5"/>
          </a:solidFill>
          <a:ln/>
        </p:spPr>
        <p:txBody>
          <a:bodyPr/>
          <a:lstStyle/>
          <a:p>
            <a:endParaRPr lang="hr-HR"/>
          </a:p>
        </p:txBody>
      </p:sp>
      <p:sp>
        <p:nvSpPr>
          <p:cNvPr id="11" name="Shape 7"/>
          <p:cNvSpPr/>
          <p:nvPr/>
        </p:nvSpPr>
        <p:spPr>
          <a:xfrm>
            <a:off x="4572000" y="1582396"/>
            <a:ext cx="4143375" cy="14288"/>
          </a:xfrm>
          <a:prstGeom prst="rect">
            <a:avLst/>
          </a:prstGeom>
          <a:solidFill>
            <a:srgbClr val="DEE2E6"/>
          </a:solidFill>
          <a:ln/>
        </p:spPr>
        <p:txBody>
          <a:bodyPr/>
          <a:lstStyle/>
          <a:p>
            <a:endParaRPr lang="hr-HR"/>
          </a:p>
        </p:txBody>
      </p:sp>
      <p:sp>
        <p:nvSpPr>
          <p:cNvPr id="12" name="Text 8"/>
          <p:cNvSpPr/>
          <p:nvPr/>
        </p:nvSpPr>
        <p:spPr>
          <a:xfrm>
            <a:off x="4572000" y="1327007"/>
            <a:ext cx="4143375" cy="269677"/>
          </a:xfrm>
          <a:prstGeom prst="rect">
            <a:avLst/>
          </a:prstGeom>
          <a:noFill/>
          <a:ln/>
        </p:spPr>
        <p:txBody>
          <a:bodyPr wrap="square" lIns="170053" tIns="102108" rIns="170053" bIns="0" rtlCol="0" anchor="t">
            <a:spAutoFit/>
          </a:bodyPr>
          <a:lstStyle/>
          <a:p>
            <a:pPr marL="0" indent="0" algn="l">
              <a:buNone/>
            </a:pPr>
            <a:r>
              <a:rPr lang="en-US" sz="950" dirty="0">
                <a:solidFill>
                  <a:srgbClr val="212529"/>
                </a:solidFill>
                <a:latin typeface="JetBrains Mono SemiBold" pitchFamily="34" charset="0"/>
                <a:ea typeface="JetBrains Mono SemiBold" pitchFamily="34" charset="-122"/>
                <a:cs typeface="JetBrains Mono SemiBold" pitchFamily="34" charset="-120"/>
              </a:rPr>
              <a:t>NOVI NAČIN (SUSTAV)</a:t>
            </a:r>
            <a:endParaRPr lang="en-US" sz="950" dirty="0"/>
          </a:p>
        </p:txBody>
      </p:sp>
      <p:pic>
        <p:nvPicPr>
          <p:cNvPr id="13" name="Image 1" descr="preencoded.png"/>
          <p:cNvPicPr>
            <a:picLocks noChangeAspect="1"/>
          </p:cNvPicPr>
          <p:nvPr/>
        </p:nvPicPr>
        <p:blipFill>
          <a:blip r:embed="rId4"/>
          <a:stretch>
            <a:fillRect/>
          </a:stretch>
        </p:blipFill>
        <p:spPr>
          <a:xfrm>
            <a:off x="571500" y="1719914"/>
            <a:ext cx="80367" cy="128588"/>
          </a:xfrm>
          <a:prstGeom prst="rect">
            <a:avLst/>
          </a:prstGeom>
        </p:spPr>
      </p:pic>
      <p:sp>
        <p:nvSpPr>
          <p:cNvPr id="14" name="Text 9"/>
          <p:cNvSpPr/>
          <p:nvPr/>
        </p:nvSpPr>
        <p:spPr>
          <a:xfrm>
            <a:off x="723305" y="1707412"/>
            <a:ext cx="1623417" cy="15537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868E96"/>
                </a:solidFill>
                <a:latin typeface="Inter" pitchFamily="34" charset="0"/>
                <a:ea typeface="Inter" pitchFamily="34" charset="-122"/>
                <a:cs typeface="Inter" pitchFamily="34" charset="-120"/>
              </a:rPr>
              <a:t>Svatko ima svoju datoteku</a:t>
            </a:r>
            <a:endParaRPr lang="en-US" sz="950" dirty="0"/>
          </a:p>
        </p:txBody>
      </p:sp>
      <p:pic>
        <p:nvPicPr>
          <p:cNvPr id="15" name="Image 2" descr="preencoded.png"/>
          <p:cNvPicPr>
            <a:picLocks noChangeAspect="1"/>
          </p:cNvPicPr>
          <p:nvPr/>
        </p:nvPicPr>
        <p:blipFill>
          <a:blip r:embed="rId5"/>
          <a:stretch>
            <a:fillRect/>
          </a:stretch>
        </p:blipFill>
        <p:spPr>
          <a:xfrm>
            <a:off x="4714875" y="1719914"/>
            <a:ext cx="128588" cy="128588"/>
          </a:xfrm>
          <a:prstGeom prst="rect">
            <a:avLst/>
          </a:prstGeom>
        </p:spPr>
      </p:pic>
      <p:sp>
        <p:nvSpPr>
          <p:cNvPr id="16" name="Text 10"/>
          <p:cNvSpPr/>
          <p:nvPr/>
        </p:nvSpPr>
        <p:spPr>
          <a:xfrm>
            <a:off x="4914900" y="1707412"/>
            <a:ext cx="2373511" cy="15537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12529"/>
                </a:solidFill>
                <a:latin typeface="Inter" pitchFamily="34" charset="0"/>
                <a:ea typeface="Inter" pitchFamily="34" charset="-122"/>
                <a:cs typeface="Inter" pitchFamily="34" charset="-120"/>
              </a:rPr>
              <a:t>Jedna verzija za sve — uvijek aktualna</a:t>
            </a:r>
            <a:endParaRPr lang="en-US" sz="950" dirty="0"/>
          </a:p>
        </p:txBody>
      </p:sp>
      <p:pic>
        <p:nvPicPr>
          <p:cNvPr id="17" name="Image 3" descr="preencoded.png"/>
          <p:cNvPicPr>
            <a:picLocks noChangeAspect="1"/>
          </p:cNvPicPr>
          <p:nvPr/>
        </p:nvPicPr>
        <p:blipFill>
          <a:blip r:embed="rId6"/>
          <a:stretch>
            <a:fillRect/>
          </a:stretch>
        </p:blipFill>
        <p:spPr>
          <a:xfrm>
            <a:off x="571500" y="2021374"/>
            <a:ext cx="80367" cy="128588"/>
          </a:xfrm>
          <a:prstGeom prst="rect">
            <a:avLst/>
          </a:prstGeom>
        </p:spPr>
      </p:pic>
      <p:sp>
        <p:nvSpPr>
          <p:cNvPr id="18" name="Text 11"/>
          <p:cNvSpPr/>
          <p:nvPr/>
        </p:nvSpPr>
        <p:spPr>
          <a:xfrm>
            <a:off x="723305" y="2008873"/>
            <a:ext cx="1416248" cy="15537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868E96"/>
                </a:solidFill>
                <a:latin typeface="Inter" pitchFamily="34" charset="0"/>
                <a:ea typeface="Inter" pitchFamily="34" charset="-122"/>
                <a:cs typeface="Inter" pitchFamily="34" charset="-120"/>
              </a:rPr>
              <a:t>Promjene se lako gube</a:t>
            </a:r>
            <a:endParaRPr lang="en-US" sz="950" dirty="0"/>
          </a:p>
        </p:txBody>
      </p:sp>
      <p:pic>
        <p:nvPicPr>
          <p:cNvPr id="19" name="Image 4" descr="preencoded.png"/>
          <p:cNvPicPr>
            <a:picLocks noChangeAspect="1"/>
          </p:cNvPicPr>
          <p:nvPr/>
        </p:nvPicPr>
        <p:blipFill>
          <a:blip r:embed="rId7"/>
          <a:stretch>
            <a:fillRect/>
          </a:stretch>
        </p:blipFill>
        <p:spPr>
          <a:xfrm>
            <a:off x="4714875" y="2021374"/>
            <a:ext cx="128588" cy="128588"/>
          </a:xfrm>
          <a:prstGeom prst="rect">
            <a:avLst/>
          </a:prstGeom>
        </p:spPr>
      </p:pic>
      <p:sp>
        <p:nvSpPr>
          <p:cNvPr id="20" name="Text 12"/>
          <p:cNvSpPr/>
          <p:nvPr/>
        </p:nvSpPr>
        <p:spPr>
          <a:xfrm>
            <a:off x="4914900" y="2008873"/>
            <a:ext cx="1952030" cy="15537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12529"/>
                </a:solidFill>
                <a:latin typeface="Inter" pitchFamily="34" charset="0"/>
                <a:ea typeface="Inter" pitchFamily="34" charset="-122"/>
                <a:cs typeface="Inter" pitchFamily="34" charset="-120"/>
              </a:rPr>
              <a:t>Sve izmjene su trajno sačuvane</a:t>
            </a:r>
            <a:endParaRPr lang="en-US" sz="950" dirty="0"/>
          </a:p>
        </p:txBody>
      </p:sp>
      <p:pic>
        <p:nvPicPr>
          <p:cNvPr id="21" name="Image 5" descr="preencoded.png"/>
          <p:cNvPicPr>
            <a:picLocks noChangeAspect="1"/>
          </p:cNvPicPr>
          <p:nvPr/>
        </p:nvPicPr>
        <p:blipFill>
          <a:blip r:embed="rId8"/>
          <a:stretch>
            <a:fillRect/>
          </a:stretch>
        </p:blipFill>
        <p:spPr>
          <a:xfrm>
            <a:off x="571500" y="2322835"/>
            <a:ext cx="80367" cy="128588"/>
          </a:xfrm>
          <a:prstGeom prst="rect">
            <a:avLst/>
          </a:prstGeom>
        </p:spPr>
      </p:pic>
      <p:sp>
        <p:nvSpPr>
          <p:cNvPr id="22" name="Text 13"/>
          <p:cNvSpPr/>
          <p:nvPr/>
        </p:nvSpPr>
        <p:spPr>
          <a:xfrm>
            <a:off x="723305" y="2310333"/>
            <a:ext cx="1848445" cy="15537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868E96"/>
                </a:solidFill>
                <a:latin typeface="Inter" pitchFamily="34" charset="0"/>
                <a:ea typeface="Inter" pitchFamily="34" charset="-122"/>
                <a:cs typeface="Inter" pitchFamily="34" charset="-120"/>
              </a:rPr>
              <a:t>Spajanje teksta je ručni posao</a:t>
            </a:r>
            <a:endParaRPr lang="en-US" sz="950" dirty="0"/>
          </a:p>
        </p:txBody>
      </p:sp>
      <p:pic>
        <p:nvPicPr>
          <p:cNvPr id="23" name="Image 6" descr="preencoded.png"/>
          <p:cNvPicPr>
            <a:picLocks noChangeAspect="1"/>
          </p:cNvPicPr>
          <p:nvPr/>
        </p:nvPicPr>
        <p:blipFill>
          <a:blip r:embed="rId9"/>
          <a:stretch>
            <a:fillRect/>
          </a:stretch>
        </p:blipFill>
        <p:spPr>
          <a:xfrm>
            <a:off x="4714875" y="2322835"/>
            <a:ext cx="128588" cy="128588"/>
          </a:xfrm>
          <a:prstGeom prst="rect">
            <a:avLst/>
          </a:prstGeom>
        </p:spPr>
      </p:pic>
      <p:sp>
        <p:nvSpPr>
          <p:cNvPr id="24" name="Text 14"/>
          <p:cNvSpPr/>
          <p:nvPr/>
        </p:nvSpPr>
        <p:spPr>
          <a:xfrm>
            <a:off x="4914900" y="2310333"/>
            <a:ext cx="2473523" cy="15537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12529"/>
                </a:solidFill>
                <a:latin typeface="Inter" pitchFamily="34" charset="0"/>
                <a:ea typeface="Inter" pitchFamily="34" charset="-122"/>
                <a:cs typeface="Inter" pitchFamily="34" charset="-120"/>
              </a:rPr>
              <a:t>Zna se točno tko je što i kada promijenio</a:t>
            </a:r>
            <a:endParaRPr lang="en-US" sz="950" dirty="0"/>
          </a:p>
        </p:txBody>
      </p:sp>
      <p:pic>
        <p:nvPicPr>
          <p:cNvPr id="25" name="Image 7" descr="preencoded.png"/>
          <p:cNvPicPr>
            <a:picLocks noChangeAspect="1"/>
          </p:cNvPicPr>
          <p:nvPr/>
        </p:nvPicPr>
        <p:blipFill>
          <a:blip r:embed="rId8"/>
          <a:stretch>
            <a:fillRect/>
          </a:stretch>
        </p:blipFill>
        <p:spPr>
          <a:xfrm>
            <a:off x="571500" y="2624296"/>
            <a:ext cx="80367" cy="128588"/>
          </a:xfrm>
          <a:prstGeom prst="rect">
            <a:avLst/>
          </a:prstGeom>
        </p:spPr>
      </p:pic>
      <p:sp>
        <p:nvSpPr>
          <p:cNvPr id="26" name="Text 15"/>
          <p:cNvSpPr/>
          <p:nvPr/>
        </p:nvSpPr>
        <p:spPr>
          <a:xfrm>
            <a:off x="723305" y="2611794"/>
            <a:ext cx="1637705" cy="15537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868E96"/>
                </a:solidFill>
                <a:latin typeface="Inter" pitchFamily="34" charset="0"/>
                <a:ea typeface="Inter" pitchFamily="34" charset="-122"/>
                <a:cs typeface="Inter" pitchFamily="34" charset="-120"/>
              </a:rPr>
              <a:t>Formatiranje oduzima sate</a:t>
            </a:r>
            <a:endParaRPr lang="en-US" sz="950" dirty="0"/>
          </a:p>
        </p:txBody>
      </p:sp>
      <p:pic>
        <p:nvPicPr>
          <p:cNvPr id="27" name="Image 8" descr="preencoded.png"/>
          <p:cNvPicPr>
            <a:picLocks noChangeAspect="1"/>
          </p:cNvPicPr>
          <p:nvPr/>
        </p:nvPicPr>
        <p:blipFill>
          <a:blip r:embed="rId9"/>
          <a:stretch>
            <a:fillRect/>
          </a:stretch>
        </p:blipFill>
        <p:spPr>
          <a:xfrm>
            <a:off x="4714875" y="2624296"/>
            <a:ext cx="128588" cy="128588"/>
          </a:xfrm>
          <a:prstGeom prst="rect">
            <a:avLst/>
          </a:prstGeom>
        </p:spPr>
      </p:pic>
      <p:sp>
        <p:nvSpPr>
          <p:cNvPr id="28" name="Text 16"/>
          <p:cNvSpPr/>
          <p:nvPr/>
        </p:nvSpPr>
        <p:spPr>
          <a:xfrm>
            <a:off x="4914900" y="2611794"/>
            <a:ext cx="1686359" cy="154979"/>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12529"/>
                </a:solidFill>
                <a:latin typeface="Inter" pitchFamily="34" charset="0"/>
                <a:ea typeface="Inter" pitchFamily="34" charset="-122"/>
                <a:cs typeface="Inter" pitchFamily="34" charset="-120"/>
              </a:rPr>
              <a:t>Dokument se </a:t>
            </a:r>
            <a:r>
              <a:rPr lang="en-US" sz="950" dirty="0" err="1">
                <a:solidFill>
                  <a:srgbClr val="212529"/>
                </a:solidFill>
                <a:latin typeface="Inter" pitchFamily="34" charset="0"/>
                <a:ea typeface="Inter" pitchFamily="34" charset="-122"/>
                <a:cs typeface="Inter" pitchFamily="34" charset="-120"/>
              </a:rPr>
              <a:t>automatski</a:t>
            </a:r>
            <a:r>
              <a:rPr lang="en-US" sz="950" dirty="0">
                <a:solidFill>
                  <a:srgbClr val="212529"/>
                </a:solidFill>
                <a:latin typeface="Inter" pitchFamily="34" charset="0"/>
                <a:ea typeface="Inter" pitchFamily="34" charset="-122"/>
                <a:cs typeface="Inter" pitchFamily="34" charset="-120"/>
              </a:rPr>
              <a:t> </a:t>
            </a:r>
            <a:r>
              <a:rPr lang="en-US" sz="950" dirty="0" err="1">
                <a:solidFill>
                  <a:srgbClr val="212529"/>
                </a:solidFill>
                <a:latin typeface="Inter" pitchFamily="34" charset="0"/>
                <a:ea typeface="Inter" pitchFamily="34" charset="-122"/>
                <a:cs typeface="Inter" pitchFamily="34" charset="-120"/>
              </a:rPr>
              <a:t>oblikuje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57788"/>
          </a:xfrm>
          <a:prstGeom prst="rect">
            <a:avLst/>
          </a:prstGeom>
        </p:spPr>
      </p:pic>
      <p:sp>
        <p:nvSpPr>
          <p:cNvPr id="4" name="Text 0"/>
          <p:cNvSpPr/>
          <p:nvPr/>
        </p:nvSpPr>
        <p:spPr>
          <a:xfrm>
            <a:off x="435769" y="435769"/>
            <a:ext cx="8715375" cy="328613"/>
          </a:xfrm>
          <a:prstGeom prst="rect">
            <a:avLst/>
          </a:prstGeom>
          <a:noFill/>
          <a:ln/>
        </p:spPr>
        <p:txBody>
          <a:bodyPr wrap="square" lIns="0" tIns="0" rIns="0" bIns="0" rtlCol="0" anchor="t">
            <a:spAutoFit/>
          </a:bodyPr>
          <a:lstStyle/>
          <a:p>
            <a:pPr marL="0" indent="0" algn="l">
              <a:buNone/>
            </a:pPr>
            <a:r>
              <a:rPr lang="en-US" sz="1800" b="1" dirty="0">
                <a:solidFill>
                  <a:srgbClr val="212529"/>
                </a:solidFill>
                <a:latin typeface="Space Grotesk SemiBold" pitchFamily="34" charset="0"/>
                <a:ea typeface="Space Grotesk SemiBold" pitchFamily="34" charset="-122"/>
                <a:cs typeface="Space Grotesk SemiBold" pitchFamily="34" charset="-120"/>
              </a:rPr>
              <a:t>Promjena paradigme: Razdvajanje sadržaja od dizajna</a:t>
            </a:r>
            <a:endParaRPr lang="en-US" sz="1800" dirty="0"/>
          </a:p>
        </p:txBody>
      </p:sp>
      <p:sp>
        <p:nvSpPr>
          <p:cNvPr id="5" name="Shape 1"/>
          <p:cNvSpPr/>
          <p:nvPr/>
        </p:nvSpPr>
        <p:spPr>
          <a:xfrm>
            <a:off x="7144" y="1679367"/>
            <a:ext cx="4572000" cy="2090133"/>
          </a:xfrm>
          <a:prstGeom prst="rect">
            <a:avLst/>
          </a:prstGeom>
          <a:solidFill>
            <a:srgbClr val="FFFFFF"/>
          </a:solidFill>
          <a:ln/>
        </p:spPr>
        <p:txBody>
          <a:bodyPr/>
          <a:lstStyle/>
          <a:p>
            <a:endParaRPr lang="hr-HR"/>
          </a:p>
        </p:txBody>
      </p:sp>
      <p:sp>
        <p:nvSpPr>
          <p:cNvPr id="6" name="Shape 2"/>
          <p:cNvSpPr/>
          <p:nvPr/>
        </p:nvSpPr>
        <p:spPr>
          <a:xfrm>
            <a:off x="7144" y="1679367"/>
            <a:ext cx="4572000" cy="7144"/>
          </a:xfrm>
          <a:prstGeom prst="rect">
            <a:avLst/>
          </a:prstGeom>
          <a:solidFill>
            <a:srgbClr val="DEE2E6"/>
          </a:solidFill>
          <a:ln/>
        </p:spPr>
        <p:txBody>
          <a:bodyPr/>
          <a:lstStyle/>
          <a:p>
            <a:endParaRPr lang="hr-HR"/>
          </a:p>
        </p:txBody>
      </p:sp>
      <p:sp>
        <p:nvSpPr>
          <p:cNvPr id="7" name="Shape 3"/>
          <p:cNvSpPr/>
          <p:nvPr/>
        </p:nvSpPr>
        <p:spPr>
          <a:xfrm>
            <a:off x="4572000" y="1679367"/>
            <a:ext cx="7144" cy="2090133"/>
          </a:xfrm>
          <a:prstGeom prst="rect">
            <a:avLst/>
          </a:prstGeom>
          <a:solidFill>
            <a:srgbClr val="DEE2E6"/>
          </a:solidFill>
          <a:ln/>
        </p:spPr>
        <p:txBody>
          <a:bodyPr/>
          <a:lstStyle/>
          <a:p>
            <a:endParaRPr lang="hr-HR"/>
          </a:p>
        </p:txBody>
      </p:sp>
      <p:sp>
        <p:nvSpPr>
          <p:cNvPr id="8" name="Shape 4"/>
          <p:cNvSpPr/>
          <p:nvPr/>
        </p:nvSpPr>
        <p:spPr>
          <a:xfrm>
            <a:off x="7144" y="3762356"/>
            <a:ext cx="4572000" cy="7144"/>
          </a:xfrm>
          <a:prstGeom prst="rect">
            <a:avLst/>
          </a:prstGeom>
          <a:solidFill>
            <a:srgbClr val="DEE2E6"/>
          </a:solidFill>
          <a:ln/>
        </p:spPr>
        <p:txBody>
          <a:bodyPr/>
          <a:lstStyle/>
          <a:p>
            <a:endParaRPr lang="hr-HR"/>
          </a:p>
        </p:txBody>
      </p:sp>
      <p:pic>
        <p:nvPicPr>
          <p:cNvPr id="9" name="Image 1" descr="preencoded.png"/>
          <p:cNvPicPr>
            <a:picLocks noChangeAspect="1"/>
          </p:cNvPicPr>
          <p:nvPr/>
        </p:nvPicPr>
        <p:blipFill>
          <a:blip r:embed="rId4"/>
          <a:stretch>
            <a:fillRect/>
          </a:stretch>
        </p:blipFill>
        <p:spPr>
          <a:xfrm>
            <a:off x="2007394" y="2226143"/>
            <a:ext cx="571500" cy="571500"/>
          </a:xfrm>
          <a:prstGeom prst="rect">
            <a:avLst/>
          </a:prstGeom>
        </p:spPr>
      </p:pic>
      <p:sp>
        <p:nvSpPr>
          <p:cNvPr id="10" name="Text 5"/>
          <p:cNvSpPr/>
          <p:nvPr/>
        </p:nvSpPr>
        <p:spPr>
          <a:xfrm>
            <a:off x="1607344" y="2920873"/>
            <a:ext cx="1371600" cy="189309"/>
          </a:xfrm>
          <a:prstGeom prst="rect">
            <a:avLst/>
          </a:prstGeom>
          <a:noFill/>
          <a:ln/>
        </p:spPr>
        <p:txBody>
          <a:bodyPr wrap="square" lIns="0" tIns="0" rIns="0" bIns="0" rtlCol="0" anchor="t">
            <a:spAutoFit/>
          </a:bodyPr>
          <a:lstStyle/>
          <a:p>
            <a:pPr marL="0" indent="0" algn="ctr">
              <a:buNone/>
            </a:pPr>
            <a:r>
              <a:rPr lang="en-US" sz="1000" dirty="0">
                <a:solidFill>
                  <a:srgbClr val="495057"/>
                </a:solidFill>
                <a:latin typeface="JetBrains Mono SemiBold" pitchFamily="34" charset="0"/>
                <a:ea typeface="JetBrains Mono SemiBold" pitchFamily="34" charset="-122"/>
                <a:cs typeface="JetBrains Mono SemiBold" pitchFamily="34" charset="-120"/>
              </a:rPr>
              <a:t>Fokus na izgledu</a:t>
            </a:r>
            <a:endParaRPr lang="en-US" sz="1000" dirty="0"/>
          </a:p>
        </p:txBody>
      </p:sp>
      <p:sp>
        <p:nvSpPr>
          <p:cNvPr id="11" name="Text 6"/>
          <p:cNvSpPr/>
          <p:nvPr/>
        </p:nvSpPr>
        <p:spPr>
          <a:xfrm>
            <a:off x="577751" y="3138757"/>
            <a:ext cx="3430786" cy="137517"/>
          </a:xfrm>
          <a:prstGeom prst="rect">
            <a:avLst/>
          </a:prstGeom>
          <a:noFill/>
          <a:ln/>
        </p:spPr>
        <p:txBody>
          <a:bodyPr wrap="square" lIns="0" tIns="0" rIns="0" bIns="0" rtlCol="0" anchor="t">
            <a:spAutoFit/>
          </a:bodyPr>
          <a:lstStyle/>
          <a:p>
            <a:pPr marL="0" indent="0" algn="ctr">
              <a:buNone/>
            </a:pPr>
            <a:r>
              <a:rPr lang="en-US" sz="850" dirty="0">
                <a:solidFill>
                  <a:srgbClr val="495057"/>
                </a:solidFill>
                <a:latin typeface="Inter" pitchFamily="34" charset="0"/>
                <a:ea typeface="Inter" pitchFamily="34" charset="-122"/>
                <a:cs typeface="Inter" pitchFamily="34" charset="-120"/>
              </a:rPr>
              <a:t>Gubljenje vremena na fontove, margine i poravnanja dok pišete.</a:t>
            </a:r>
            <a:endParaRPr lang="en-US" sz="850" dirty="0"/>
          </a:p>
        </p:txBody>
      </p:sp>
      <p:sp>
        <p:nvSpPr>
          <p:cNvPr id="12" name="Shape 7"/>
          <p:cNvSpPr/>
          <p:nvPr/>
        </p:nvSpPr>
        <p:spPr>
          <a:xfrm>
            <a:off x="4579144" y="1679367"/>
            <a:ext cx="4572000" cy="2090133"/>
          </a:xfrm>
          <a:prstGeom prst="rect">
            <a:avLst/>
          </a:prstGeom>
          <a:solidFill>
            <a:srgbClr val="F1F3F5"/>
          </a:solidFill>
          <a:ln/>
        </p:spPr>
        <p:txBody>
          <a:bodyPr/>
          <a:lstStyle/>
          <a:p>
            <a:endParaRPr lang="hr-HR"/>
          </a:p>
        </p:txBody>
      </p:sp>
      <p:sp>
        <p:nvSpPr>
          <p:cNvPr id="13" name="Shape 8"/>
          <p:cNvSpPr/>
          <p:nvPr/>
        </p:nvSpPr>
        <p:spPr>
          <a:xfrm>
            <a:off x="4579144" y="1679367"/>
            <a:ext cx="4572000" cy="7144"/>
          </a:xfrm>
          <a:prstGeom prst="rect">
            <a:avLst/>
          </a:prstGeom>
          <a:solidFill>
            <a:srgbClr val="DEE2E6"/>
          </a:solidFill>
          <a:ln/>
        </p:spPr>
        <p:txBody>
          <a:bodyPr/>
          <a:lstStyle/>
          <a:p>
            <a:endParaRPr lang="hr-HR"/>
          </a:p>
        </p:txBody>
      </p:sp>
      <p:sp>
        <p:nvSpPr>
          <p:cNvPr id="14" name="Shape 9"/>
          <p:cNvSpPr/>
          <p:nvPr/>
        </p:nvSpPr>
        <p:spPr>
          <a:xfrm>
            <a:off x="4579144" y="3762356"/>
            <a:ext cx="4572000" cy="7144"/>
          </a:xfrm>
          <a:prstGeom prst="rect">
            <a:avLst/>
          </a:prstGeom>
          <a:solidFill>
            <a:srgbClr val="DEE2E6"/>
          </a:solidFill>
          <a:ln/>
        </p:spPr>
        <p:txBody>
          <a:bodyPr/>
          <a:lstStyle/>
          <a:p>
            <a:endParaRPr lang="hr-HR"/>
          </a:p>
        </p:txBody>
      </p:sp>
      <p:sp>
        <p:nvSpPr>
          <p:cNvPr id="15" name="Shape 10"/>
          <p:cNvSpPr/>
          <p:nvPr/>
        </p:nvSpPr>
        <p:spPr>
          <a:xfrm>
            <a:off x="4579144" y="1679367"/>
            <a:ext cx="7144" cy="2090133"/>
          </a:xfrm>
          <a:prstGeom prst="rect">
            <a:avLst/>
          </a:prstGeom>
          <a:solidFill>
            <a:srgbClr val="DEE2E6"/>
          </a:solidFill>
          <a:ln/>
        </p:spPr>
        <p:txBody>
          <a:bodyPr/>
          <a:lstStyle/>
          <a:p>
            <a:endParaRPr lang="hr-HR"/>
          </a:p>
        </p:txBody>
      </p:sp>
      <p:pic>
        <p:nvPicPr>
          <p:cNvPr id="16" name="Image 2" descr="preencoded.png"/>
          <p:cNvPicPr>
            <a:picLocks noChangeAspect="1"/>
          </p:cNvPicPr>
          <p:nvPr/>
        </p:nvPicPr>
        <p:blipFill>
          <a:blip r:embed="rId5"/>
          <a:stretch>
            <a:fillRect/>
          </a:stretch>
        </p:blipFill>
        <p:spPr>
          <a:xfrm>
            <a:off x="6650831" y="2226171"/>
            <a:ext cx="428625" cy="571500"/>
          </a:xfrm>
          <a:prstGeom prst="rect">
            <a:avLst/>
          </a:prstGeom>
        </p:spPr>
      </p:pic>
      <p:sp>
        <p:nvSpPr>
          <p:cNvPr id="17" name="Text 11"/>
          <p:cNvSpPr/>
          <p:nvPr/>
        </p:nvSpPr>
        <p:spPr>
          <a:xfrm>
            <a:off x="5664994" y="2920901"/>
            <a:ext cx="2400300" cy="189309"/>
          </a:xfrm>
          <a:prstGeom prst="rect">
            <a:avLst/>
          </a:prstGeom>
          <a:noFill/>
          <a:ln/>
        </p:spPr>
        <p:txBody>
          <a:bodyPr wrap="square" lIns="0" tIns="0" rIns="0" bIns="0" rtlCol="0" anchor="t">
            <a:spAutoFit/>
          </a:bodyPr>
          <a:lstStyle/>
          <a:p>
            <a:pPr marL="0" indent="0" algn="ctr">
              <a:buNone/>
            </a:pPr>
            <a:r>
              <a:rPr lang="en-US" sz="1000" dirty="0">
                <a:solidFill>
                  <a:srgbClr val="495057"/>
                </a:solidFill>
                <a:latin typeface="JetBrains Mono SemiBold" pitchFamily="34" charset="0"/>
                <a:ea typeface="JetBrains Mono SemiBold" pitchFamily="34" charset="-122"/>
                <a:cs typeface="JetBrains Mono SemiBold" pitchFamily="34" charset="-120"/>
              </a:rPr>
              <a:t>Fokus isključivo na sadržaju</a:t>
            </a:r>
            <a:endParaRPr lang="en-US" sz="1000" dirty="0"/>
          </a:p>
        </p:txBody>
      </p:sp>
      <p:sp>
        <p:nvSpPr>
          <p:cNvPr id="18" name="Text 12"/>
          <p:cNvSpPr/>
          <p:nvPr/>
        </p:nvSpPr>
        <p:spPr>
          <a:xfrm>
            <a:off x="5071170" y="3138785"/>
            <a:ext cx="3587948" cy="130805"/>
          </a:xfrm>
          <a:prstGeom prst="rect">
            <a:avLst/>
          </a:prstGeom>
          <a:noFill/>
          <a:ln/>
        </p:spPr>
        <p:txBody>
          <a:bodyPr wrap="square" lIns="0" tIns="0" rIns="0" bIns="0" rtlCol="0" anchor="t">
            <a:spAutoFit/>
          </a:bodyPr>
          <a:lstStyle/>
          <a:p>
            <a:pPr marL="0" indent="0" algn="ctr">
              <a:buNone/>
            </a:pPr>
            <a:r>
              <a:rPr lang="en-US" sz="850" dirty="0">
                <a:solidFill>
                  <a:srgbClr val="495057"/>
                </a:solidFill>
                <a:latin typeface="Inter" pitchFamily="34" charset="0"/>
                <a:ea typeface="Inter" pitchFamily="34" charset="-122"/>
                <a:cs typeface="Inter" pitchFamily="34" charset="-120"/>
              </a:rPr>
              <a:t>Vi </a:t>
            </a:r>
            <a:r>
              <a:rPr lang="en-US" sz="850" dirty="0" err="1">
                <a:solidFill>
                  <a:srgbClr val="495057"/>
                </a:solidFill>
                <a:latin typeface="Inter" pitchFamily="34" charset="0"/>
                <a:ea typeface="Inter" pitchFamily="34" charset="-122"/>
                <a:cs typeface="Inter" pitchFamily="34" charset="-120"/>
              </a:rPr>
              <a:t>pišete</a:t>
            </a:r>
            <a:r>
              <a:rPr lang="en-US" sz="850" dirty="0">
                <a:solidFill>
                  <a:srgbClr val="495057"/>
                </a:solidFill>
                <a:latin typeface="Inter" pitchFamily="34" charset="0"/>
                <a:ea typeface="Inter" pitchFamily="34" charset="-122"/>
                <a:cs typeface="Inter" pitchFamily="34" charset="-120"/>
              </a:rPr>
              <a:t> </a:t>
            </a:r>
            <a:r>
              <a:rPr lang="en-US" sz="850" dirty="0" err="1">
                <a:solidFill>
                  <a:srgbClr val="495057"/>
                </a:solidFill>
                <a:latin typeface="Inter" pitchFamily="34" charset="0"/>
                <a:ea typeface="Inter" pitchFamily="34" charset="-122"/>
                <a:cs typeface="Inter" pitchFamily="34" charset="-120"/>
              </a:rPr>
              <a:t>čisti</a:t>
            </a:r>
            <a:r>
              <a:rPr lang="en-US" sz="850" dirty="0">
                <a:solidFill>
                  <a:srgbClr val="495057"/>
                </a:solidFill>
                <a:latin typeface="Inter" pitchFamily="34" charset="0"/>
                <a:ea typeface="Inter" pitchFamily="34" charset="-122"/>
                <a:cs typeface="Inter" pitchFamily="34" charset="-120"/>
              </a:rPr>
              <a:t> tekst, a sustav brine o profesionalnom izgledu.</a:t>
            </a:r>
            <a:endParaRPr lang="en-US" sz="850" dirty="0"/>
          </a:p>
        </p:txBody>
      </p:sp>
      <p:sp>
        <p:nvSpPr>
          <p:cNvPr id="19" name="Shape 13"/>
          <p:cNvSpPr/>
          <p:nvPr/>
        </p:nvSpPr>
        <p:spPr>
          <a:xfrm>
            <a:off x="435769" y="3879056"/>
            <a:ext cx="8286750" cy="466130"/>
          </a:xfrm>
          <a:prstGeom prst="rect">
            <a:avLst/>
          </a:prstGeom>
          <a:solidFill>
            <a:srgbClr val="FFFFFF"/>
          </a:solidFill>
          <a:ln/>
        </p:spPr>
        <p:txBody>
          <a:bodyPr/>
          <a:lstStyle/>
          <a:p>
            <a:endParaRPr lang="hr-HR"/>
          </a:p>
        </p:txBody>
      </p:sp>
      <p:sp>
        <p:nvSpPr>
          <p:cNvPr id="20" name="Shape 14"/>
          <p:cNvSpPr/>
          <p:nvPr/>
        </p:nvSpPr>
        <p:spPr>
          <a:xfrm>
            <a:off x="435769" y="3879056"/>
            <a:ext cx="8286750" cy="28575"/>
          </a:xfrm>
          <a:prstGeom prst="rect">
            <a:avLst/>
          </a:prstGeom>
          <a:solidFill>
            <a:srgbClr val="20C997"/>
          </a:solidFill>
          <a:ln/>
        </p:spPr>
        <p:txBody>
          <a:bodyPr/>
          <a:lstStyle/>
          <a:p>
            <a:endParaRPr lang="hr-HR"/>
          </a:p>
        </p:txBody>
      </p:sp>
      <p:sp>
        <p:nvSpPr>
          <p:cNvPr id="21" name="Text 15"/>
          <p:cNvSpPr/>
          <p:nvPr/>
        </p:nvSpPr>
        <p:spPr>
          <a:xfrm>
            <a:off x="550069" y="3998100"/>
            <a:ext cx="7041952" cy="130805"/>
          </a:xfrm>
          <a:prstGeom prst="rect">
            <a:avLst/>
          </a:prstGeom>
          <a:noFill/>
          <a:ln/>
        </p:spPr>
        <p:txBody>
          <a:bodyPr wrap="square" lIns="0" tIns="0" rIns="0" bIns="0" rtlCol="0" anchor="t">
            <a:spAutoFit/>
          </a:bodyPr>
          <a:lstStyle/>
          <a:p>
            <a:pPr marL="0" indent="0" algn="ctr">
              <a:buNone/>
            </a:pPr>
            <a:r>
              <a:rPr lang="en-US" sz="850" dirty="0">
                <a:solidFill>
                  <a:srgbClr val="495057"/>
                </a:solidFill>
                <a:latin typeface="Inter" pitchFamily="34" charset="0"/>
                <a:ea typeface="Inter" pitchFamily="34" charset="-122"/>
                <a:cs typeface="Inter" pitchFamily="34" charset="-120"/>
              </a:rPr>
              <a:t>Cilj nije pisati drugačije — nego prestati biti grafički urednik. Vi se bavite tekstom i informacijama, a računalo se bavi oblikovanjem.</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57788"/>
          </a:xfrm>
          <a:prstGeom prst="rect">
            <a:avLst/>
          </a:prstGeom>
        </p:spPr>
      </p:pic>
      <p:sp>
        <p:nvSpPr>
          <p:cNvPr id="4" name="Text 0"/>
          <p:cNvSpPr/>
          <p:nvPr/>
        </p:nvSpPr>
        <p:spPr>
          <a:xfrm>
            <a:off x="435769" y="435769"/>
            <a:ext cx="8715375" cy="328613"/>
          </a:xfrm>
          <a:prstGeom prst="rect">
            <a:avLst/>
          </a:prstGeom>
          <a:noFill/>
          <a:ln/>
        </p:spPr>
        <p:txBody>
          <a:bodyPr wrap="square" lIns="0" tIns="0" rIns="0" bIns="0" rtlCol="0" anchor="t">
            <a:spAutoFit/>
          </a:bodyPr>
          <a:lstStyle/>
          <a:p>
            <a:pPr marL="0" indent="0" algn="l">
              <a:buNone/>
            </a:pPr>
            <a:r>
              <a:rPr lang="en-US" sz="1800" b="1" dirty="0">
                <a:solidFill>
                  <a:srgbClr val="212529"/>
                </a:solidFill>
                <a:latin typeface="Space Grotesk SemiBold" pitchFamily="34" charset="0"/>
                <a:ea typeface="Space Grotesk SemiBold" pitchFamily="34" charset="-122"/>
                <a:cs typeface="Space Grotesk SemiBold" pitchFamily="34" charset="-120"/>
              </a:rPr>
              <a:t>AI obožava čisti tekst (Markdown)</a:t>
            </a:r>
            <a:endParaRPr lang="en-US" sz="1800" dirty="0"/>
          </a:p>
        </p:txBody>
      </p:sp>
      <p:sp>
        <p:nvSpPr>
          <p:cNvPr id="5" name="Text 1"/>
          <p:cNvSpPr/>
          <p:nvPr/>
        </p:nvSpPr>
        <p:spPr>
          <a:xfrm>
            <a:off x="435769" y="1547013"/>
            <a:ext cx="3929063" cy="112514"/>
          </a:xfrm>
          <a:prstGeom prst="rect">
            <a:avLst/>
          </a:prstGeom>
          <a:noFill/>
          <a:ln/>
        </p:spPr>
        <p:txBody>
          <a:bodyPr wrap="square" lIns="0" tIns="0" rIns="0" bIns="0" rtlCol="0" anchor="t">
            <a:spAutoFit/>
          </a:bodyPr>
          <a:lstStyle/>
          <a:p>
            <a:pPr marL="0" indent="0" algn="l">
              <a:buNone/>
            </a:pPr>
            <a:r>
              <a:rPr lang="en-US" sz="600" dirty="0">
                <a:solidFill>
                  <a:srgbClr val="ADB5BD"/>
                </a:solidFill>
                <a:latin typeface="JetBrains Mono SemiBold" pitchFamily="34" charset="0"/>
                <a:ea typeface="JetBrains Mono SemiBold" pitchFamily="34" charset="-122"/>
                <a:cs typeface="JetBrains Mono SemiBold" pitchFamily="34" charset="-120"/>
              </a:rPr>
              <a:t>INPUT.MD</a:t>
            </a:r>
            <a:endParaRPr lang="en-US" sz="600" dirty="0"/>
          </a:p>
        </p:txBody>
      </p:sp>
      <p:sp>
        <p:nvSpPr>
          <p:cNvPr id="6" name="Shape 2"/>
          <p:cNvSpPr/>
          <p:nvPr/>
        </p:nvSpPr>
        <p:spPr>
          <a:xfrm>
            <a:off x="435769" y="1702389"/>
            <a:ext cx="3929063" cy="2035969"/>
          </a:xfrm>
          <a:prstGeom prst="rect">
            <a:avLst/>
          </a:prstGeom>
          <a:solidFill>
            <a:srgbClr val="212529"/>
          </a:solidFill>
          <a:ln w="9144">
            <a:solidFill>
              <a:srgbClr val="343A40"/>
            </a:solidFill>
            <a:prstDash val="solid"/>
          </a:ln>
        </p:spPr>
        <p:txBody>
          <a:bodyPr/>
          <a:lstStyle/>
          <a:p>
            <a:endParaRPr lang="hr-HR"/>
          </a:p>
        </p:txBody>
      </p:sp>
      <p:sp>
        <p:nvSpPr>
          <p:cNvPr id="7" name="Text 3"/>
          <p:cNvSpPr/>
          <p:nvPr/>
        </p:nvSpPr>
        <p:spPr>
          <a:xfrm>
            <a:off x="521494" y="1888127"/>
            <a:ext cx="3757613" cy="150019"/>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F8F9FA"/>
                </a:solidFill>
                <a:latin typeface="JetBrains Mono SemiBold" pitchFamily="34" charset="0"/>
                <a:ea typeface="JetBrains Mono SemiBold" pitchFamily="34" charset="-122"/>
                <a:cs typeface="JetBrains Mono SemiBold" pitchFamily="34" charset="-120"/>
              </a:rPr>
              <a:t># Analiza podataka</a:t>
            </a:r>
            <a:endParaRPr lang="en-US" sz="750" dirty="0"/>
          </a:p>
        </p:txBody>
      </p:sp>
      <p:sp>
        <p:nvSpPr>
          <p:cNvPr id="8" name="Text 4"/>
          <p:cNvSpPr/>
          <p:nvPr/>
        </p:nvSpPr>
        <p:spPr>
          <a:xfrm>
            <a:off x="521494" y="2138158"/>
            <a:ext cx="1380186" cy="129266"/>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F8F9FA"/>
                </a:solidFill>
                <a:latin typeface="JetBrains Mono SemiBold" pitchFamily="34" charset="0"/>
                <a:ea typeface="JetBrains Mono SemiBold" pitchFamily="34" charset="-122"/>
                <a:cs typeface="JetBrains Mono SemiBold" pitchFamily="34" charset="-120"/>
              </a:rPr>
              <a:t>AI </a:t>
            </a:r>
            <a:r>
              <a:rPr lang="hr-HR" sz="750" dirty="0">
                <a:solidFill>
                  <a:srgbClr val="F8F9FA"/>
                </a:solidFill>
                <a:latin typeface="JetBrains Mono SemiBold" pitchFamily="34" charset="0"/>
                <a:ea typeface="JetBrains Mono SemiBold" pitchFamily="34" charset="-122"/>
                <a:cs typeface="JetBrains Mono SemiBold" pitchFamily="34" charset="-120"/>
              </a:rPr>
              <a:t>razumije sadržaj brže i preciznije</a:t>
            </a:r>
            <a:endParaRPr lang="en-US" sz="750" dirty="0"/>
          </a:p>
        </p:txBody>
      </p:sp>
      <p:sp>
        <p:nvSpPr>
          <p:cNvPr id="9" name="Text 5"/>
          <p:cNvSpPr/>
          <p:nvPr/>
        </p:nvSpPr>
        <p:spPr>
          <a:xfrm>
            <a:off x="521494" y="2388189"/>
            <a:ext cx="1678345" cy="129266"/>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F8F9FA"/>
                </a:solidFill>
                <a:latin typeface="JetBrains Mono SemiBold" pitchFamily="34" charset="0"/>
                <a:ea typeface="JetBrains Mono SemiBold" pitchFamily="34" charset="-122"/>
                <a:cs typeface="JetBrains Mono SemiBold" pitchFamily="34" charset="-120"/>
              </a:rPr>
              <a:t>- </a:t>
            </a:r>
            <a:r>
              <a:rPr lang="hr-HR" sz="750" dirty="0">
                <a:solidFill>
                  <a:srgbClr val="F8F9FA"/>
                </a:solidFill>
                <a:latin typeface="JetBrains Mono SemiBold" pitchFamily="34" charset="0"/>
                <a:ea typeface="JetBrains Mono SemiBold" pitchFamily="34" charset="-122"/>
                <a:cs typeface="JetBrains Mono SemiBold" pitchFamily="34" charset="-120"/>
              </a:rPr>
              <a:t>Bolje</a:t>
            </a:r>
            <a:r>
              <a:rPr lang="en-US" sz="750" dirty="0">
                <a:solidFill>
                  <a:srgbClr val="F8F9FA"/>
                </a:solidFill>
                <a:latin typeface="JetBrains Mono SemiBold" pitchFamily="34" charset="0"/>
                <a:ea typeface="JetBrains Mono SemiBold" pitchFamily="34" charset="-122"/>
                <a:cs typeface="JetBrains Mono SemiBold" pitchFamily="34" charset="-120"/>
              </a:rPr>
              <a:t> </a:t>
            </a:r>
            <a:r>
              <a:rPr lang="en-US" sz="750" dirty="0" err="1">
                <a:solidFill>
                  <a:srgbClr val="F8F9FA"/>
                </a:solidFill>
                <a:latin typeface="JetBrains Mono SemiBold" pitchFamily="34" charset="0"/>
                <a:ea typeface="JetBrains Mono SemiBold" pitchFamily="34" charset="-122"/>
                <a:cs typeface="JetBrains Mono SemiBold" pitchFamily="34" charset="-120"/>
              </a:rPr>
              <a:t>sažimanje</a:t>
            </a:r>
            <a:r>
              <a:rPr lang="hr-HR" sz="750" dirty="0">
                <a:solidFill>
                  <a:srgbClr val="F8F9FA"/>
                </a:solidFill>
                <a:latin typeface="JetBrains Mono SemiBold" pitchFamily="34" charset="0"/>
                <a:ea typeface="JetBrains Mono SemiBold" pitchFamily="34" charset="-122"/>
                <a:cs typeface="JetBrains Mono SemiBold" pitchFamily="34" charset="-120"/>
              </a:rPr>
              <a:t> (manja potrošnja tokena)</a:t>
            </a:r>
            <a:endParaRPr lang="en-US" sz="750" dirty="0"/>
          </a:p>
        </p:txBody>
      </p:sp>
      <p:sp>
        <p:nvSpPr>
          <p:cNvPr id="10" name="Text 6"/>
          <p:cNvSpPr/>
          <p:nvPr/>
        </p:nvSpPr>
        <p:spPr>
          <a:xfrm>
            <a:off x="521494" y="2638220"/>
            <a:ext cx="676467" cy="129266"/>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F8F9FA"/>
                </a:solidFill>
                <a:latin typeface="JetBrains Mono SemiBold" pitchFamily="34" charset="0"/>
                <a:ea typeface="JetBrains Mono SemiBold" pitchFamily="34" charset="-122"/>
                <a:cs typeface="JetBrains Mono SemiBold" pitchFamily="34" charset="-120"/>
              </a:rPr>
              <a:t>- </a:t>
            </a:r>
            <a:r>
              <a:rPr lang="hr-HR" sz="750" dirty="0">
                <a:solidFill>
                  <a:srgbClr val="F8F9FA"/>
                </a:solidFill>
                <a:latin typeface="JetBrains Mono SemiBold" pitchFamily="34" charset="0"/>
                <a:ea typeface="JetBrains Mono SemiBold" pitchFamily="34" charset="-122"/>
                <a:cs typeface="JetBrains Mono SemiBold" pitchFamily="34" charset="-120"/>
              </a:rPr>
              <a:t>Točniji prijevodi</a:t>
            </a:r>
            <a:endParaRPr lang="en-US" sz="750" dirty="0"/>
          </a:p>
        </p:txBody>
      </p:sp>
      <p:sp>
        <p:nvSpPr>
          <p:cNvPr id="11" name="Text 7"/>
          <p:cNvSpPr/>
          <p:nvPr/>
        </p:nvSpPr>
        <p:spPr>
          <a:xfrm>
            <a:off x="521494" y="2888252"/>
            <a:ext cx="1046761" cy="129266"/>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F8F9FA"/>
                </a:solidFill>
                <a:latin typeface="JetBrains Mono SemiBold" pitchFamily="34" charset="0"/>
                <a:ea typeface="JetBrains Mono SemiBold" pitchFamily="34" charset="-122"/>
                <a:cs typeface="JetBrains Mono SemiBold" pitchFamily="34" charset="-120"/>
              </a:rPr>
              <a:t>- </a:t>
            </a:r>
            <a:r>
              <a:rPr lang="hr-HR" sz="750" dirty="0">
                <a:solidFill>
                  <a:srgbClr val="F8F9FA"/>
                </a:solidFill>
                <a:latin typeface="JetBrains Mono SemiBold" pitchFamily="34" charset="0"/>
                <a:ea typeface="JetBrains Mono SemiBold" pitchFamily="34" charset="-122"/>
                <a:cs typeface="JetBrains Mono SemiBold" pitchFamily="34" charset="-120"/>
              </a:rPr>
              <a:t>Jasnije </a:t>
            </a:r>
            <a:r>
              <a:rPr lang="en-US" sz="750" dirty="0">
                <a:solidFill>
                  <a:srgbClr val="F8F9FA"/>
                </a:solidFill>
                <a:latin typeface="JetBrains Mono SemiBold" pitchFamily="34" charset="0"/>
                <a:ea typeface="JetBrains Mono SemiBold" pitchFamily="34" charset="-122"/>
                <a:cs typeface="JetBrains Mono SemiBold" pitchFamily="34" charset="-120"/>
              </a:rPr>
              <a:t> </a:t>
            </a:r>
            <a:r>
              <a:rPr lang="en-US" sz="750" dirty="0" err="1">
                <a:solidFill>
                  <a:srgbClr val="F8F9FA"/>
                </a:solidFill>
                <a:latin typeface="JetBrains Mono SemiBold" pitchFamily="34" charset="0"/>
                <a:ea typeface="JetBrains Mono SemiBold" pitchFamily="34" charset="-122"/>
                <a:cs typeface="JetBrains Mono SemiBold" pitchFamily="34" charset="-120"/>
              </a:rPr>
              <a:t>tablic</a:t>
            </a:r>
            <a:r>
              <a:rPr lang="hr-HR" sz="750" dirty="0">
                <a:solidFill>
                  <a:srgbClr val="F8F9FA"/>
                </a:solidFill>
                <a:latin typeface="JetBrains Mono SemiBold" pitchFamily="34" charset="0"/>
                <a:ea typeface="JetBrains Mono SemiBold" pitchFamily="34" charset="-122"/>
                <a:cs typeface="JetBrains Mono SemiBold" pitchFamily="34" charset="-120"/>
              </a:rPr>
              <a:t>e i strukture</a:t>
            </a:r>
            <a:endParaRPr lang="en-US" sz="750" dirty="0"/>
          </a:p>
        </p:txBody>
      </p:sp>
      <p:sp>
        <p:nvSpPr>
          <p:cNvPr id="12" name="Text 8"/>
          <p:cNvSpPr/>
          <p:nvPr/>
        </p:nvSpPr>
        <p:spPr>
          <a:xfrm>
            <a:off x="521494" y="3138283"/>
            <a:ext cx="3757613" cy="150019"/>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F8F9FA"/>
                </a:solidFill>
                <a:latin typeface="JetBrains Mono SemiBold" pitchFamily="34" charset="0"/>
                <a:ea typeface="JetBrains Mono SemiBold" pitchFamily="34" charset="-122"/>
                <a:cs typeface="JetBrains Mono SemiBold" pitchFamily="34" charset="-120"/>
              </a:rPr>
              <a:t>---</a:t>
            </a:r>
            <a:endParaRPr lang="en-US" sz="750" dirty="0"/>
          </a:p>
        </p:txBody>
      </p:sp>
      <p:sp>
        <p:nvSpPr>
          <p:cNvPr id="13" name="Text 9"/>
          <p:cNvSpPr/>
          <p:nvPr/>
        </p:nvSpPr>
        <p:spPr>
          <a:xfrm>
            <a:off x="521494" y="3388314"/>
            <a:ext cx="3515386" cy="129266"/>
          </a:xfrm>
          <a:prstGeom prst="rect">
            <a:avLst/>
          </a:prstGeom>
          <a:noFill/>
          <a:ln/>
        </p:spPr>
        <p:txBody>
          <a:bodyPr wrap="none" lIns="0" tIns="0" rIns="0" bIns="0" rtlCol="0" anchor="t">
            <a:spAutoFit/>
          </a:bodyPr>
          <a:lstStyle/>
          <a:p>
            <a:pPr marL="0" indent="0" algn="l">
              <a:lnSpc>
                <a:spcPct val="120000"/>
              </a:lnSpc>
              <a:buNone/>
            </a:pPr>
            <a:r>
              <a:rPr lang="hr-HR" sz="750" dirty="0" err="1">
                <a:solidFill>
                  <a:srgbClr val="F8F9FA"/>
                </a:solidFill>
                <a:latin typeface="JetBrains Mono SemiBold" pitchFamily="34" charset="0"/>
                <a:ea typeface="JetBrains Mono SemiBold" pitchFamily="34" charset="-122"/>
                <a:cs typeface="JetBrains Mono SemiBold" pitchFamily="34" charset="-120"/>
              </a:rPr>
              <a:t>Markdown</a:t>
            </a:r>
            <a:r>
              <a:rPr lang="hr-HR" sz="750" dirty="0">
                <a:solidFill>
                  <a:srgbClr val="F8F9FA"/>
                </a:solidFill>
                <a:latin typeface="JetBrains Mono SemiBold" pitchFamily="34" charset="0"/>
                <a:ea typeface="JetBrains Mono SemiBold" pitchFamily="34" charset="-122"/>
                <a:cs typeface="JetBrains Mono SemiBold" pitchFamily="34" charset="-120"/>
              </a:rPr>
              <a:t> je </a:t>
            </a:r>
            <a:r>
              <a:rPr lang="hr-HR" sz="750" dirty="0" err="1">
                <a:solidFill>
                  <a:srgbClr val="F8F9FA"/>
                </a:solidFill>
                <a:latin typeface="JetBrains Mono SemiBold" pitchFamily="34" charset="0"/>
                <a:ea typeface="JetBrains Mono SemiBold" pitchFamily="34" charset="-122"/>
                <a:cs typeface="JetBrains Mono SemiBold" pitchFamily="34" charset="-120"/>
              </a:rPr>
              <a:t>nativni</a:t>
            </a:r>
            <a:r>
              <a:rPr lang="hr-HR" sz="750" dirty="0">
                <a:solidFill>
                  <a:srgbClr val="F8F9FA"/>
                </a:solidFill>
                <a:latin typeface="JetBrains Mono SemiBold" pitchFamily="34" charset="0"/>
                <a:ea typeface="JetBrains Mono SemiBold" pitchFamily="34" charset="-122"/>
                <a:cs typeface="JetBrains Mono SemiBold" pitchFamily="34" charset="-120"/>
              </a:rPr>
              <a:t> ulazni format za AI sustave temeljene na velikim jezičnim modelima.</a:t>
            </a:r>
            <a:endParaRPr lang="en-US" sz="750" dirty="0"/>
          </a:p>
        </p:txBody>
      </p:sp>
      <p:sp>
        <p:nvSpPr>
          <p:cNvPr id="14" name="Shape 10"/>
          <p:cNvSpPr/>
          <p:nvPr/>
        </p:nvSpPr>
        <p:spPr>
          <a:xfrm>
            <a:off x="435769" y="3766933"/>
            <a:ext cx="2536031" cy="189309"/>
          </a:xfrm>
          <a:prstGeom prst="rect">
            <a:avLst/>
          </a:prstGeom>
          <a:solidFill>
            <a:srgbClr val="20C997"/>
          </a:solidFill>
          <a:ln/>
        </p:spPr>
        <p:txBody>
          <a:bodyPr/>
          <a:lstStyle/>
          <a:p>
            <a:endParaRPr lang="hr-HR"/>
          </a:p>
        </p:txBody>
      </p:sp>
      <p:sp>
        <p:nvSpPr>
          <p:cNvPr id="15" name="Text 11"/>
          <p:cNvSpPr/>
          <p:nvPr/>
        </p:nvSpPr>
        <p:spPr>
          <a:xfrm>
            <a:off x="435769" y="3766933"/>
            <a:ext cx="2536031" cy="189309"/>
          </a:xfrm>
          <a:prstGeom prst="rect">
            <a:avLst/>
          </a:prstGeom>
          <a:noFill/>
          <a:ln/>
        </p:spPr>
        <p:txBody>
          <a:bodyPr wrap="square" lIns="136017" tIns="68072" rIns="136017" bIns="0" rtlCol="0" anchor="t">
            <a:spAutoFit/>
          </a:bodyPr>
          <a:lstStyle/>
          <a:p>
            <a:pPr marL="0" indent="0" algn="l">
              <a:buNone/>
            </a:pPr>
            <a:r>
              <a:rPr lang="en-US" sz="750" dirty="0">
                <a:solidFill>
                  <a:srgbClr val="FFFFFF"/>
                </a:solidFill>
                <a:latin typeface="JetBrains Mono SemiBold" pitchFamily="34" charset="0"/>
                <a:ea typeface="JetBrains Mono SemiBold" pitchFamily="34" charset="-122"/>
                <a:cs typeface="JetBrains Mono SemiBold" pitchFamily="34" charset="-120"/>
              </a:rPr>
              <a:t>REZULTAT: Pišete manje, dobivate više.</a:t>
            </a:r>
            <a:endParaRPr lang="en-US" sz="750" dirty="0"/>
          </a:p>
        </p:txBody>
      </p:sp>
      <p:pic>
        <p:nvPicPr>
          <p:cNvPr id="16" name="Image 1" descr="preencoded.png"/>
          <p:cNvPicPr>
            <a:picLocks noChangeAspect="1"/>
          </p:cNvPicPr>
          <p:nvPr/>
        </p:nvPicPr>
        <p:blipFill>
          <a:blip r:embed="rId4"/>
          <a:stretch>
            <a:fillRect/>
          </a:stretch>
        </p:blipFill>
        <p:spPr>
          <a:xfrm>
            <a:off x="4793456" y="1577373"/>
            <a:ext cx="171450" cy="171450"/>
          </a:xfrm>
          <a:prstGeom prst="rect">
            <a:avLst/>
          </a:prstGeom>
        </p:spPr>
      </p:pic>
      <p:sp>
        <p:nvSpPr>
          <p:cNvPr id="17" name="Text 12"/>
          <p:cNvSpPr/>
          <p:nvPr/>
        </p:nvSpPr>
        <p:spPr>
          <a:xfrm>
            <a:off x="5079206" y="1689888"/>
            <a:ext cx="3643313" cy="182166"/>
          </a:xfrm>
          <a:prstGeom prst="rect">
            <a:avLst/>
          </a:prstGeom>
          <a:noFill/>
          <a:ln/>
        </p:spPr>
        <p:txBody>
          <a:bodyPr wrap="square" lIns="0" tIns="0" rIns="0" bIns="0" rtlCol="0" anchor="t">
            <a:spAutoFit/>
          </a:bodyPr>
          <a:lstStyle/>
          <a:p>
            <a:pPr marL="0" indent="0" algn="l">
              <a:buNone/>
            </a:pPr>
            <a:r>
              <a:rPr lang="en-US" sz="1000" b="1" dirty="0">
                <a:solidFill>
                  <a:srgbClr val="212529"/>
                </a:solidFill>
                <a:latin typeface="Space Grotesk SemiBold" pitchFamily="34" charset="0"/>
                <a:ea typeface="Space Grotesk SemiBold" pitchFamily="34" charset="-122"/>
                <a:cs typeface="Space Grotesk SemiBold" pitchFamily="34" charset="-120"/>
              </a:rPr>
              <a:t>Nativno razumijevanje</a:t>
            </a:r>
            <a:endParaRPr lang="en-US" sz="1000" dirty="0"/>
          </a:p>
        </p:txBody>
      </p:sp>
      <p:sp>
        <p:nvSpPr>
          <p:cNvPr id="18" name="Text 13"/>
          <p:cNvSpPr/>
          <p:nvPr/>
        </p:nvSpPr>
        <p:spPr>
          <a:xfrm>
            <a:off x="5079206" y="1986353"/>
            <a:ext cx="3643313"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495057"/>
                </a:solidFill>
                <a:latin typeface="Inter" pitchFamily="34" charset="0"/>
                <a:ea typeface="Inter" pitchFamily="34" charset="-122"/>
                <a:cs typeface="Inter" pitchFamily="34" charset="-120"/>
              </a:rPr>
              <a:t>Markdown je standard za ChatGPT, Claude i Copilot. AI ne mora "čistiti" formatiranje da bi shvatio bit.</a:t>
            </a:r>
            <a:endParaRPr lang="en-US" sz="850" dirty="0"/>
          </a:p>
        </p:txBody>
      </p:sp>
      <p:pic>
        <p:nvPicPr>
          <p:cNvPr id="19" name="Image 2" descr="preencoded.png"/>
          <p:cNvPicPr>
            <a:picLocks noChangeAspect="1"/>
          </p:cNvPicPr>
          <p:nvPr/>
        </p:nvPicPr>
        <p:blipFill>
          <a:blip r:embed="rId5"/>
          <a:stretch>
            <a:fillRect/>
          </a:stretch>
        </p:blipFill>
        <p:spPr>
          <a:xfrm>
            <a:off x="4793456" y="2536757"/>
            <a:ext cx="150019" cy="171450"/>
          </a:xfrm>
          <a:prstGeom prst="rect">
            <a:avLst/>
          </a:prstGeom>
        </p:spPr>
      </p:pic>
      <p:sp>
        <p:nvSpPr>
          <p:cNvPr id="20" name="Text 14"/>
          <p:cNvSpPr/>
          <p:nvPr/>
        </p:nvSpPr>
        <p:spPr>
          <a:xfrm>
            <a:off x="5057775" y="2649271"/>
            <a:ext cx="3664744" cy="182166"/>
          </a:xfrm>
          <a:prstGeom prst="rect">
            <a:avLst/>
          </a:prstGeom>
          <a:noFill/>
          <a:ln/>
        </p:spPr>
        <p:txBody>
          <a:bodyPr wrap="square" lIns="0" tIns="0" rIns="0" bIns="0" rtlCol="0" anchor="t">
            <a:spAutoFit/>
          </a:bodyPr>
          <a:lstStyle/>
          <a:p>
            <a:pPr marL="0" indent="0" algn="l">
              <a:buNone/>
            </a:pPr>
            <a:r>
              <a:rPr lang="en-US" sz="1000" b="1" dirty="0">
                <a:solidFill>
                  <a:srgbClr val="212529"/>
                </a:solidFill>
                <a:latin typeface="Space Grotesk SemiBold" pitchFamily="34" charset="0"/>
                <a:ea typeface="Space Grotesk SemiBold" pitchFamily="34" charset="-122"/>
                <a:cs typeface="Space Grotesk SemiBold" pitchFamily="34" charset="-120"/>
              </a:rPr>
              <a:t>Baza znanja</a:t>
            </a:r>
            <a:endParaRPr lang="en-US" sz="1000" dirty="0"/>
          </a:p>
        </p:txBody>
      </p:sp>
      <p:sp>
        <p:nvSpPr>
          <p:cNvPr id="21" name="Text 15"/>
          <p:cNvSpPr/>
          <p:nvPr/>
        </p:nvSpPr>
        <p:spPr>
          <a:xfrm>
            <a:off x="5057775" y="2945736"/>
            <a:ext cx="3664744"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495057"/>
                </a:solidFill>
                <a:latin typeface="Inter" pitchFamily="34" charset="0"/>
                <a:ea typeface="Inter" pitchFamily="34" charset="-122"/>
                <a:cs typeface="Inter" pitchFamily="34" charset="-120"/>
              </a:rPr>
              <a:t>Vaš repozitorij postaje strukturirana baza znanja spremna za vašeg privatnog AI asistenta.</a:t>
            </a:r>
            <a:endParaRPr lang="en-US" sz="850" dirty="0"/>
          </a:p>
        </p:txBody>
      </p:sp>
      <p:pic>
        <p:nvPicPr>
          <p:cNvPr id="22" name="Image 3" descr="preencoded.png"/>
          <p:cNvPicPr>
            <a:picLocks noChangeAspect="1"/>
          </p:cNvPicPr>
          <p:nvPr/>
        </p:nvPicPr>
        <p:blipFill>
          <a:blip r:embed="rId6"/>
          <a:stretch>
            <a:fillRect/>
          </a:stretch>
        </p:blipFill>
        <p:spPr>
          <a:xfrm>
            <a:off x="4793456" y="3496140"/>
            <a:ext cx="128588" cy="171450"/>
          </a:xfrm>
          <a:prstGeom prst="rect">
            <a:avLst/>
          </a:prstGeom>
        </p:spPr>
      </p:pic>
      <p:sp>
        <p:nvSpPr>
          <p:cNvPr id="23" name="Text 16"/>
          <p:cNvSpPr/>
          <p:nvPr/>
        </p:nvSpPr>
        <p:spPr>
          <a:xfrm>
            <a:off x="5036344" y="3608654"/>
            <a:ext cx="3686175" cy="182166"/>
          </a:xfrm>
          <a:prstGeom prst="rect">
            <a:avLst/>
          </a:prstGeom>
          <a:noFill/>
          <a:ln/>
        </p:spPr>
        <p:txBody>
          <a:bodyPr wrap="square" lIns="0" tIns="0" rIns="0" bIns="0" rtlCol="0" anchor="t">
            <a:spAutoFit/>
          </a:bodyPr>
          <a:lstStyle/>
          <a:p>
            <a:pPr marL="0" indent="0" algn="l">
              <a:buNone/>
            </a:pPr>
            <a:r>
              <a:rPr lang="en-US" sz="1000" b="1" dirty="0">
                <a:solidFill>
                  <a:srgbClr val="212529"/>
                </a:solidFill>
                <a:latin typeface="Space Grotesk SemiBold" pitchFamily="34" charset="0"/>
                <a:ea typeface="Space Grotesk SemiBold" pitchFamily="34" charset="-122"/>
                <a:cs typeface="Space Grotesk SemiBold" pitchFamily="34" charset="-120"/>
              </a:rPr>
              <a:t>Brža obrada</a:t>
            </a:r>
            <a:endParaRPr lang="en-US" sz="1000" dirty="0"/>
          </a:p>
        </p:txBody>
      </p:sp>
      <p:sp>
        <p:nvSpPr>
          <p:cNvPr id="24" name="Text 17"/>
          <p:cNvSpPr/>
          <p:nvPr/>
        </p:nvSpPr>
        <p:spPr>
          <a:xfrm>
            <a:off x="5036344" y="3905120"/>
            <a:ext cx="3686175"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495057"/>
                </a:solidFill>
                <a:latin typeface="Inter" pitchFamily="34" charset="0"/>
                <a:ea typeface="Inter" pitchFamily="34" charset="-122"/>
                <a:cs typeface="Inter" pitchFamily="34" charset="-120"/>
              </a:rPr>
              <a:t>Automatizirano sažimanje, prevođenje i generiranje složenih tablica iz običnog teksta.</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57788"/>
          </a:xfrm>
          <a:prstGeom prst="rect">
            <a:avLst/>
          </a:prstGeom>
        </p:spPr>
      </p:pic>
      <p:sp>
        <p:nvSpPr>
          <p:cNvPr id="4" name="Text 0"/>
          <p:cNvSpPr/>
          <p:nvPr/>
        </p:nvSpPr>
        <p:spPr>
          <a:xfrm>
            <a:off x="435769" y="649216"/>
            <a:ext cx="8715375" cy="328613"/>
          </a:xfrm>
          <a:prstGeom prst="rect">
            <a:avLst/>
          </a:prstGeom>
          <a:noFill/>
          <a:ln/>
        </p:spPr>
        <p:txBody>
          <a:bodyPr wrap="square" lIns="0" tIns="0" rIns="0" bIns="0" rtlCol="0" anchor="t">
            <a:spAutoFit/>
          </a:bodyPr>
          <a:lstStyle/>
          <a:p>
            <a:pPr marL="0" indent="0" algn="l">
              <a:buNone/>
            </a:pPr>
            <a:r>
              <a:rPr lang="en-US" sz="1800" b="1" dirty="0">
                <a:solidFill>
                  <a:srgbClr val="212529"/>
                </a:solidFill>
                <a:latin typeface="Space Grotesk SemiBold" pitchFamily="34" charset="0"/>
                <a:ea typeface="Space Grotesk SemiBold" pitchFamily="34" charset="-122"/>
                <a:cs typeface="Space Grotesk SemiBold" pitchFamily="34" charset="-120"/>
              </a:rPr>
              <a:t>Tri jednostavna alata (Bez programiranja)</a:t>
            </a:r>
            <a:endParaRPr lang="en-US" sz="1800" dirty="0"/>
          </a:p>
        </p:txBody>
      </p:sp>
      <p:sp>
        <p:nvSpPr>
          <p:cNvPr id="5" name="Shape 1"/>
          <p:cNvSpPr/>
          <p:nvPr/>
        </p:nvSpPr>
        <p:spPr>
          <a:xfrm>
            <a:off x="7144" y="1277001"/>
            <a:ext cx="9144000" cy="3630755"/>
          </a:xfrm>
          <a:prstGeom prst="rect">
            <a:avLst/>
          </a:prstGeom>
          <a:solidFill>
            <a:srgbClr val="000000">
              <a:alpha val="0"/>
            </a:srgbClr>
          </a:solidFill>
          <a:ln/>
        </p:spPr>
        <p:txBody>
          <a:bodyPr/>
          <a:lstStyle/>
          <a:p>
            <a:endParaRPr lang="hr-HR"/>
          </a:p>
        </p:txBody>
      </p:sp>
      <p:sp>
        <p:nvSpPr>
          <p:cNvPr id="6" name="Shape 2"/>
          <p:cNvSpPr/>
          <p:nvPr/>
        </p:nvSpPr>
        <p:spPr>
          <a:xfrm>
            <a:off x="7144" y="1277001"/>
            <a:ext cx="9144000" cy="7144"/>
          </a:xfrm>
          <a:prstGeom prst="rect">
            <a:avLst/>
          </a:prstGeom>
          <a:solidFill>
            <a:srgbClr val="DEE2E6"/>
          </a:solidFill>
          <a:ln/>
        </p:spPr>
        <p:txBody>
          <a:bodyPr/>
          <a:lstStyle/>
          <a:p>
            <a:endParaRPr lang="hr-HR"/>
          </a:p>
        </p:txBody>
      </p:sp>
      <p:sp>
        <p:nvSpPr>
          <p:cNvPr id="7" name="Shape 3"/>
          <p:cNvSpPr/>
          <p:nvPr/>
        </p:nvSpPr>
        <p:spPr>
          <a:xfrm>
            <a:off x="1234669" y="1362726"/>
            <a:ext cx="585788" cy="585788"/>
          </a:xfrm>
          <a:prstGeom prst="rect">
            <a:avLst/>
          </a:prstGeom>
          <a:solidFill>
            <a:srgbClr val="FFFFFF"/>
          </a:solidFill>
          <a:ln w="9144">
            <a:solidFill>
              <a:srgbClr val="DEE2E6"/>
            </a:solidFill>
            <a:prstDash val="solid"/>
          </a:ln>
        </p:spPr>
        <p:txBody>
          <a:bodyPr/>
          <a:lstStyle/>
          <a:p>
            <a:endParaRPr lang="hr-HR"/>
          </a:p>
        </p:txBody>
      </p:sp>
      <p:pic>
        <p:nvPicPr>
          <p:cNvPr id="8" name="Image 1" descr="preencoded.png"/>
          <p:cNvPicPr>
            <a:picLocks noChangeAspect="1"/>
          </p:cNvPicPr>
          <p:nvPr/>
        </p:nvPicPr>
        <p:blipFill>
          <a:blip r:embed="rId4"/>
          <a:stretch>
            <a:fillRect/>
          </a:stretch>
        </p:blipFill>
        <p:spPr>
          <a:xfrm>
            <a:off x="1384688" y="1505601"/>
            <a:ext cx="285750" cy="285750"/>
          </a:xfrm>
          <a:prstGeom prst="rect">
            <a:avLst/>
          </a:prstGeom>
        </p:spPr>
      </p:pic>
      <p:sp>
        <p:nvSpPr>
          <p:cNvPr id="9" name="Text 4"/>
          <p:cNvSpPr/>
          <p:nvPr/>
        </p:nvSpPr>
        <p:spPr>
          <a:xfrm>
            <a:off x="1113225" y="2019951"/>
            <a:ext cx="828675" cy="226814"/>
          </a:xfrm>
          <a:prstGeom prst="rect">
            <a:avLst/>
          </a:prstGeom>
          <a:noFill/>
          <a:ln/>
        </p:spPr>
        <p:txBody>
          <a:bodyPr wrap="none" lIns="0" tIns="0" rIns="0" bIns="0" rtlCol="0" anchor="t">
            <a:spAutoFit/>
          </a:bodyPr>
          <a:lstStyle/>
          <a:p>
            <a:pPr marL="0" indent="0" algn="ctr">
              <a:buNone/>
            </a:pPr>
            <a:r>
              <a:rPr lang="en-US" sz="1250" dirty="0">
                <a:solidFill>
                  <a:srgbClr val="212529"/>
                </a:solidFill>
                <a:latin typeface="JetBrains Mono SemiBold" pitchFamily="34" charset="0"/>
                <a:ea typeface="JetBrains Mono SemiBold" pitchFamily="34" charset="-122"/>
                <a:cs typeface="JetBrains Mono SemiBold" pitchFamily="34" charset="-120"/>
              </a:rPr>
              <a:t>Obsidian</a:t>
            </a:r>
            <a:endParaRPr lang="en-US" sz="1250" dirty="0"/>
          </a:p>
        </p:txBody>
      </p:sp>
      <p:sp>
        <p:nvSpPr>
          <p:cNvPr id="10" name="Text 5"/>
          <p:cNvSpPr/>
          <p:nvPr/>
        </p:nvSpPr>
        <p:spPr>
          <a:xfrm>
            <a:off x="1345397" y="2303915"/>
            <a:ext cx="364331" cy="132159"/>
          </a:xfrm>
          <a:prstGeom prst="rect">
            <a:avLst/>
          </a:prstGeom>
          <a:noFill/>
          <a:ln/>
        </p:spPr>
        <p:txBody>
          <a:bodyPr wrap="none" lIns="0" tIns="0" rIns="0" bIns="0" rtlCol="0" anchor="t">
            <a:spAutoFit/>
          </a:bodyPr>
          <a:lstStyle/>
          <a:p>
            <a:pPr marL="0" indent="0" algn="ctr">
              <a:buNone/>
            </a:pPr>
            <a:r>
              <a:rPr lang="en-US" sz="700" dirty="0">
                <a:solidFill>
                  <a:srgbClr val="20C997"/>
                </a:solidFill>
                <a:latin typeface="JetBrains Mono SemiBold" pitchFamily="34" charset="0"/>
                <a:ea typeface="JetBrains Mono SemiBold" pitchFamily="34" charset="-122"/>
                <a:cs typeface="JetBrains Mono SemiBold" pitchFamily="34" charset="-120"/>
              </a:rPr>
              <a:t>EDITOR</a:t>
            </a:r>
            <a:endParaRPr lang="en-US" sz="700" dirty="0"/>
          </a:p>
        </p:txBody>
      </p:sp>
      <p:sp>
        <p:nvSpPr>
          <p:cNvPr id="11" name="Text 6"/>
          <p:cNvSpPr/>
          <p:nvPr/>
        </p:nvSpPr>
        <p:spPr>
          <a:xfrm>
            <a:off x="670313" y="2521800"/>
            <a:ext cx="1714500" cy="578644"/>
          </a:xfrm>
          <a:prstGeom prst="rect">
            <a:avLst/>
          </a:prstGeom>
          <a:noFill/>
          <a:ln/>
        </p:spPr>
        <p:txBody>
          <a:bodyPr wrap="square" lIns="0" tIns="0" rIns="0" bIns="0" rtlCol="0" anchor="t">
            <a:spAutoFit/>
          </a:bodyPr>
          <a:lstStyle/>
          <a:p>
            <a:pPr marL="0" indent="0" algn="ctr">
              <a:lnSpc>
                <a:spcPct val="120000"/>
              </a:lnSpc>
              <a:buNone/>
            </a:pPr>
            <a:r>
              <a:rPr lang="en-US" sz="950" dirty="0">
                <a:solidFill>
                  <a:srgbClr val="495057"/>
                </a:solidFill>
                <a:latin typeface="Inter" pitchFamily="34" charset="0"/>
                <a:ea typeface="Inter" pitchFamily="34" charset="-122"/>
                <a:cs typeface="Inter" pitchFamily="34" charset="-120"/>
              </a:rPr>
              <a:t>Pisanje bez distrakcija. Sprema čisti tekst; uređivanje tipkovnicom.</a:t>
            </a:r>
            <a:endParaRPr lang="en-US" sz="950" dirty="0"/>
          </a:p>
        </p:txBody>
      </p:sp>
      <p:sp>
        <p:nvSpPr>
          <p:cNvPr id="12" name="Shape 7"/>
          <p:cNvSpPr/>
          <p:nvPr/>
        </p:nvSpPr>
        <p:spPr>
          <a:xfrm>
            <a:off x="4282650" y="1362726"/>
            <a:ext cx="585788" cy="585788"/>
          </a:xfrm>
          <a:prstGeom prst="rect">
            <a:avLst/>
          </a:prstGeom>
          <a:solidFill>
            <a:srgbClr val="FFFFFF"/>
          </a:solidFill>
          <a:ln w="9144">
            <a:solidFill>
              <a:srgbClr val="DEE2E6"/>
            </a:solidFill>
            <a:prstDash val="solid"/>
          </a:ln>
        </p:spPr>
        <p:txBody>
          <a:bodyPr/>
          <a:lstStyle/>
          <a:p>
            <a:endParaRPr lang="hr-HR"/>
          </a:p>
        </p:txBody>
      </p:sp>
      <p:pic>
        <p:nvPicPr>
          <p:cNvPr id="13" name="Image 2" descr="preencoded.png"/>
          <p:cNvPicPr>
            <a:picLocks noChangeAspect="1"/>
          </p:cNvPicPr>
          <p:nvPr/>
        </p:nvPicPr>
        <p:blipFill>
          <a:blip r:embed="rId5"/>
          <a:stretch>
            <a:fillRect/>
          </a:stretch>
        </p:blipFill>
        <p:spPr>
          <a:xfrm>
            <a:off x="4450528" y="1505601"/>
            <a:ext cx="250031" cy="285750"/>
          </a:xfrm>
          <a:prstGeom prst="rect">
            <a:avLst/>
          </a:prstGeom>
        </p:spPr>
      </p:pic>
      <p:sp>
        <p:nvSpPr>
          <p:cNvPr id="14" name="Text 8"/>
          <p:cNvSpPr/>
          <p:nvPr/>
        </p:nvSpPr>
        <p:spPr>
          <a:xfrm>
            <a:off x="4420167" y="2019951"/>
            <a:ext cx="310753" cy="226814"/>
          </a:xfrm>
          <a:prstGeom prst="rect">
            <a:avLst/>
          </a:prstGeom>
          <a:noFill/>
          <a:ln/>
        </p:spPr>
        <p:txBody>
          <a:bodyPr wrap="none" lIns="0" tIns="0" rIns="0" bIns="0" rtlCol="0" anchor="t">
            <a:spAutoFit/>
          </a:bodyPr>
          <a:lstStyle/>
          <a:p>
            <a:pPr marL="0" indent="0" algn="ctr">
              <a:buNone/>
            </a:pPr>
            <a:r>
              <a:rPr lang="en-US" sz="1250" dirty="0">
                <a:solidFill>
                  <a:srgbClr val="212529"/>
                </a:solidFill>
                <a:latin typeface="JetBrains Mono SemiBold" pitchFamily="34" charset="0"/>
                <a:ea typeface="JetBrains Mono SemiBold" pitchFamily="34" charset="-122"/>
                <a:cs typeface="JetBrains Mono SemiBold" pitchFamily="34" charset="-120"/>
              </a:rPr>
              <a:t>Git</a:t>
            </a:r>
            <a:endParaRPr lang="en-US" sz="1250" dirty="0"/>
          </a:p>
        </p:txBody>
      </p:sp>
      <p:sp>
        <p:nvSpPr>
          <p:cNvPr id="15" name="Text 9"/>
          <p:cNvSpPr/>
          <p:nvPr/>
        </p:nvSpPr>
        <p:spPr>
          <a:xfrm>
            <a:off x="4120130" y="2303915"/>
            <a:ext cx="910828" cy="132159"/>
          </a:xfrm>
          <a:prstGeom prst="rect">
            <a:avLst/>
          </a:prstGeom>
          <a:noFill/>
          <a:ln/>
        </p:spPr>
        <p:txBody>
          <a:bodyPr wrap="none" lIns="0" tIns="0" rIns="0" bIns="0" rtlCol="0" anchor="t">
            <a:spAutoFit/>
          </a:bodyPr>
          <a:lstStyle/>
          <a:p>
            <a:pPr marL="0" indent="0" algn="ctr">
              <a:buNone/>
            </a:pPr>
            <a:r>
              <a:rPr lang="en-US" sz="700" dirty="0">
                <a:solidFill>
                  <a:srgbClr val="20C997"/>
                </a:solidFill>
                <a:latin typeface="JetBrains Mono SemiBold" pitchFamily="34" charset="0"/>
                <a:ea typeface="JetBrains Mono SemiBold" pitchFamily="34" charset="-122"/>
                <a:cs typeface="JetBrains Mono SemiBold" pitchFamily="34" charset="-120"/>
              </a:rPr>
              <a:t>VREMENSKI STROJ</a:t>
            </a:r>
            <a:endParaRPr lang="en-US" sz="700" dirty="0"/>
          </a:p>
        </p:txBody>
      </p:sp>
      <p:sp>
        <p:nvSpPr>
          <p:cNvPr id="16" name="Text 10"/>
          <p:cNvSpPr/>
          <p:nvPr/>
        </p:nvSpPr>
        <p:spPr>
          <a:xfrm>
            <a:off x="3718294" y="2521800"/>
            <a:ext cx="1714500" cy="578644"/>
          </a:xfrm>
          <a:prstGeom prst="rect">
            <a:avLst/>
          </a:prstGeom>
          <a:noFill/>
          <a:ln/>
        </p:spPr>
        <p:txBody>
          <a:bodyPr wrap="square" lIns="0" tIns="0" rIns="0" bIns="0" rtlCol="0" anchor="t">
            <a:spAutoFit/>
          </a:bodyPr>
          <a:lstStyle/>
          <a:p>
            <a:pPr marL="0" indent="0" algn="ctr">
              <a:lnSpc>
                <a:spcPct val="120000"/>
              </a:lnSpc>
              <a:buNone/>
            </a:pPr>
            <a:r>
              <a:rPr lang="en-US" sz="950" dirty="0">
                <a:solidFill>
                  <a:srgbClr val="495057"/>
                </a:solidFill>
                <a:latin typeface="Inter" pitchFamily="34" charset="0"/>
                <a:ea typeface="Inter" pitchFamily="34" charset="-122"/>
                <a:cs typeface="Inter" pitchFamily="34" charset="-120"/>
              </a:rPr>
              <a:t>Sigurna povijest verzija. Jednostavan povrat i pregled promjena.</a:t>
            </a:r>
            <a:endParaRPr lang="en-US" sz="950" dirty="0"/>
          </a:p>
        </p:txBody>
      </p:sp>
      <p:sp>
        <p:nvSpPr>
          <p:cNvPr id="17" name="Shape 11"/>
          <p:cNvSpPr/>
          <p:nvPr/>
        </p:nvSpPr>
        <p:spPr>
          <a:xfrm>
            <a:off x="7334231" y="1362726"/>
            <a:ext cx="585788" cy="585788"/>
          </a:xfrm>
          <a:prstGeom prst="rect">
            <a:avLst/>
          </a:prstGeom>
          <a:solidFill>
            <a:srgbClr val="FFFFFF"/>
          </a:solidFill>
          <a:ln w="9144">
            <a:solidFill>
              <a:srgbClr val="DEE2E6"/>
            </a:solidFill>
            <a:prstDash val="solid"/>
          </a:ln>
        </p:spPr>
        <p:txBody>
          <a:bodyPr/>
          <a:lstStyle/>
          <a:p>
            <a:endParaRPr lang="hr-HR"/>
          </a:p>
        </p:txBody>
      </p:sp>
      <p:pic>
        <p:nvPicPr>
          <p:cNvPr id="18" name="Image 3" descr="preencoded.png"/>
          <p:cNvPicPr>
            <a:picLocks noChangeAspect="1"/>
          </p:cNvPicPr>
          <p:nvPr/>
        </p:nvPicPr>
        <p:blipFill>
          <a:blip r:embed="rId6"/>
          <a:stretch>
            <a:fillRect/>
          </a:stretch>
        </p:blipFill>
        <p:spPr>
          <a:xfrm>
            <a:off x="7448531" y="1505601"/>
            <a:ext cx="357188" cy="285750"/>
          </a:xfrm>
          <a:prstGeom prst="rect">
            <a:avLst/>
          </a:prstGeom>
        </p:spPr>
      </p:pic>
      <p:sp>
        <p:nvSpPr>
          <p:cNvPr id="19" name="Text 12"/>
          <p:cNvSpPr/>
          <p:nvPr/>
        </p:nvSpPr>
        <p:spPr>
          <a:xfrm>
            <a:off x="7316372" y="2019951"/>
            <a:ext cx="621506" cy="226814"/>
          </a:xfrm>
          <a:prstGeom prst="rect">
            <a:avLst/>
          </a:prstGeom>
          <a:noFill/>
          <a:ln/>
        </p:spPr>
        <p:txBody>
          <a:bodyPr wrap="none" lIns="0" tIns="0" rIns="0" bIns="0" rtlCol="0" anchor="t">
            <a:spAutoFit/>
          </a:bodyPr>
          <a:lstStyle/>
          <a:p>
            <a:pPr marL="0" indent="0" algn="ctr">
              <a:buNone/>
            </a:pPr>
            <a:r>
              <a:rPr lang="en-US" sz="1250" dirty="0">
                <a:solidFill>
                  <a:srgbClr val="212529"/>
                </a:solidFill>
                <a:latin typeface="JetBrains Mono SemiBold" pitchFamily="34" charset="0"/>
                <a:ea typeface="JetBrains Mono SemiBold" pitchFamily="34" charset="-122"/>
                <a:cs typeface="JetBrains Mono SemiBold" pitchFamily="34" charset="-120"/>
              </a:rPr>
              <a:t>Quarto</a:t>
            </a:r>
            <a:endParaRPr lang="en-US" sz="1250" dirty="0"/>
          </a:p>
        </p:txBody>
      </p:sp>
      <p:sp>
        <p:nvSpPr>
          <p:cNvPr id="20" name="Text 13"/>
          <p:cNvSpPr/>
          <p:nvPr/>
        </p:nvSpPr>
        <p:spPr>
          <a:xfrm>
            <a:off x="7475320" y="2303915"/>
            <a:ext cx="303609" cy="132159"/>
          </a:xfrm>
          <a:prstGeom prst="rect">
            <a:avLst/>
          </a:prstGeom>
          <a:noFill/>
          <a:ln/>
        </p:spPr>
        <p:txBody>
          <a:bodyPr wrap="none" lIns="0" tIns="0" rIns="0" bIns="0" rtlCol="0" anchor="t">
            <a:spAutoFit/>
          </a:bodyPr>
          <a:lstStyle/>
          <a:p>
            <a:pPr marL="0" indent="0" algn="ctr">
              <a:buNone/>
            </a:pPr>
            <a:r>
              <a:rPr lang="en-US" sz="700" dirty="0">
                <a:solidFill>
                  <a:srgbClr val="20C997"/>
                </a:solidFill>
                <a:latin typeface="JetBrains Mono SemiBold" pitchFamily="34" charset="0"/>
                <a:ea typeface="JetBrains Mono SemiBold" pitchFamily="34" charset="-122"/>
                <a:cs typeface="JetBrains Mono SemiBold" pitchFamily="34" charset="-120"/>
              </a:rPr>
              <a:t>ROBOT</a:t>
            </a:r>
            <a:endParaRPr lang="en-US" sz="700" dirty="0"/>
          </a:p>
        </p:txBody>
      </p:sp>
      <p:sp>
        <p:nvSpPr>
          <p:cNvPr id="21" name="Text 14"/>
          <p:cNvSpPr/>
          <p:nvPr/>
        </p:nvSpPr>
        <p:spPr>
          <a:xfrm>
            <a:off x="6769875" y="2521800"/>
            <a:ext cx="1714500" cy="578644"/>
          </a:xfrm>
          <a:prstGeom prst="rect">
            <a:avLst/>
          </a:prstGeom>
          <a:noFill/>
          <a:ln/>
        </p:spPr>
        <p:txBody>
          <a:bodyPr wrap="square" lIns="0" tIns="0" rIns="0" bIns="0" rtlCol="0" anchor="t">
            <a:spAutoFit/>
          </a:bodyPr>
          <a:lstStyle/>
          <a:p>
            <a:pPr marL="0" indent="0" algn="ctr">
              <a:lnSpc>
                <a:spcPct val="120000"/>
              </a:lnSpc>
              <a:buNone/>
            </a:pPr>
            <a:r>
              <a:rPr lang="en-US" sz="950" dirty="0">
                <a:solidFill>
                  <a:srgbClr val="495057"/>
                </a:solidFill>
                <a:latin typeface="Inter" pitchFamily="34" charset="0"/>
                <a:ea typeface="Inter" pitchFamily="34" charset="-122"/>
                <a:cs typeface="Inter" pitchFamily="34" charset="-120"/>
              </a:rPr>
              <a:t>Automatsko oblikovanje i generiranje službenih dokumenata.</a:t>
            </a:r>
            <a:endParaRPr lang="en-US" sz="950" dirty="0"/>
          </a:p>
        </p:txBody>
      </p:sp>
      <p:sp>
        <p:nvSpPr>
          <p:cNvPr id="22" name="Shape 15"/>
          <p:cNvSpPr/>
          <p:nvPr/>
        </p:nvSpPr>
        <p:spPr>
          <a:xfrm>
            <a:off x="7144" y="4907756"/>
            <a:ext cx="9144000" cy="242888"/>
          </a:xfrm>
          <a:prstGeom prst="rect">
            <a:avLst/>
          </a:prstGeom>
          <a:solidFill>
            <a:srgbClr val="FFFFFF"/>
          </a:solidFill>
          <a:ln/>
        </p:spPr>
        <p:txBody>
          <a:bodyPr/>
          <a:lstStyle/>
          <a:p>
            <a:endParaRPr lang="hr-HR"/>
          </a:p>
        </p:txBody>
      </p:sp>
      <p:sp>
        <p:nvSpPr>
          <p:cNvPr id="23" name="Shape 16"/>
          <p:cNvSpPr/>
          <p:nvPr/>
        </p:nvSpPr>
        <p:spPr>
          <a:xfrm>
            <a:off x="7144" y="4907756"/>
            <a:ext cx="9144000" cy="7144"/>
          </a:xfrm>
          <a:prstGeom prst="rect">
            <a:avLst/>
          </a:prstGeom>
          <a:solidFill>
            <a:srgbClr val="DEE2E6"/>
          </a:solidFill>
          <a:ln/>
        </p:spPr>
        <p:txBody>
          <a:bodyPr/>
          <a:lstStyle/>
          <a:p>
            <a:endParaRPr lang="hr-HR"/>
          </a:p>
        </p:txBody>
      </p:sp>
      <p:sp>
        <p:nvSpPr>
          <p:cNvPr id="24" name="Text 17"/>
          <p:cNvSpPr/>
          <p:nvPr/>
        </p:nvSpPr>
        <p:spPr>
          <a:xfrm>
            <a:off x="7144" y="4907756"/>
            <a:ext cx="9144000" cy="242888"/>
          </a:xfrm>
          <a:prstGeom prst="rect">
            <a:avLst/>
          </a:prstGeom>
          <a:noFill/>
          <a:ln/>
        </p:spPr>
        <p:txBody>
          <a:bodyPr wrap="square" lIns="340233" tIns="102108" rIns="340233" bIns="0" rtlCol="0" anchor="t">
            <a:spAutoFit/>
          </a:bodyPr>
          <a:lstStyle/>
          <a:p>
            <a:pPr marL="0" indent="0" algn="l">
              <a:buNone/>
            </a:pPr>
            <a:r>
              <a:rPr lang="en-US" sz="850" dirty="0">
                <a:solidFill>
                  <a:srgbClr val="6C757D"/>
                </a:solidFill>
                <a:latin typeface="JetBrains Mono SemiBold" pitchFamily="34" charset="0"/>
                <a:ea typeface="JetBrains Mono SemiBold" pitchFamily="34" charset="-122"/>
                <a:cs typeface="JetBrains Mono SemiBold" pitchFamily="34" charset="-120"/>
              </a:rPr>
              <a:t>Vaš svakodnevni rad: pišete u Obsidianu, sustav čuva verzije i sastavlja gotov dokument.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642072"/>
            <a:ext cx="8715375" cy="328613"/>
          </a:xfrm>
          <a:prstGeom prst="rect">
            <a:avLst/>
          </a:prstGeom>
          <a:noFill/>
          <a:ln/>
        </p:spPr>
        <p:txBody>
          <a:bodyPr wrap="square" lIns="0" tIns="0" rIns="0" bIns="0" rtlCol="0" anchor="t">
            <a:spAutoFit/>
          </a:bodyPr>
          <a:lstStyle/>
          <a:p>
            <a:pPr marL="0" indent="0" algn="l">
              <a:buNone/>
            </a:pPr>
            <a:r>
              <a:rPr lang="en-US" sz="1800" b="1" dirty="0">
                <a:solidFill>
                  <a:srgbClr val="212529"/>
                </a:solidFill>
                <a:latin typeface="Space Grotesk SemiBold" pitchFamily="34" charset="0"/>
                <a:ea typeface="Space Grotesk SemiBold" pitchFamily="34" charset="-122"/>
                <a:cs typeface="Space Grotesk SemiBold" pitchFamily="34" charset="-120"/>
              </a:rPr>
              <a:t>Kako to izgleda u praksi? (3 jednostavna koraka)</a:t>
            </a:r>
            <a:endParaRPr lang="en-US" sz="1800" dirty="0"/>
          </a:p>
        </p:txBody>
      </p:sp>
      <p:sp>
        <p:nvSpPr>
          <p:cNvPr id="5" name="Shape 1"/>
          <p:cNvSpPr/>
          <p:nvPr/>
        </p:nvSpPr>
        <p:spPr>
          <a:xfrm>
            <a:off x="428625" y="1312720"/>
            <a:ext cx="2695566" cy="2557463"/>
          </a:xfrm>
          <a:prstGeom prst="rect">
            <a:avLst/>
          </a:prstGeom>
          <a:solidFill>
            <a:srgbClr val="FFFFFF"/>
          </a:solidFill>
          <a:ln/>
        </p:spPr>
        <p:txBody>
          <a:bodyPr/>
          <a:lstStyle/>
          <a:p>
            <a:endParaRPr lang="hr-HR"/>
          </a:p>
        </p:txBody>
      </p:sp>
      <p:sp>
        <p:nvSpPr>
          <p:cNvPr id="6" name="Text 2"/>
          <p:cNvSpPr/>
          <p:nvPr/>
        </p:nvSpPr>
        <p:spPr>
          <a:xfrm>
            <a:off x="1563867" y="1455595"/>
            <a:ext cx="425053" cy="132159"/>
          </a:xfrm>
          <a:prstGeom prst="rect">
            <a:avLst/>
          </a:prstGeom>
          <a:noFill/>
          <a:ln/>
        </p:spPr>
        <p:txBody>
          <a:bodyPr wrap="none" lIns="0" tIns="0" rIns="0" bIns="0" rtlCol="0" anchor="t">
            <a:spAutoFit/>
          </a:bodyPr>
          <a:lstStyle/>
          <a:p>
            <a:pPr marL="0" indent="0" algn="ctr">
              <a:buNone/>
            </a:pPr>
            <a:r>
              <a:rPr lang="en-US" sz="700" dirty="0">
                <a:solidFill>
                  <a:srgbClr val="0D6EFD"/>
                </a:solidFill>
                <a:latin typeface="JetBrains Mono SemiBold" pitchFamily="34" charset="0"/>
                <a:ea typeface="JetBrains Mono SemiBold" pitchFamily="34" charset="-122"/>
                <a:cs typeface="JetBrains Mono SemiBold" pitchFamily="34" charset="-120"/>
              </a:rPr>
              <a:t>KORAK 1</a:t>
            </a:r>
            <a:endParaRPr lang="en-US" sz="700" dirty="0"/>
          </a:p>
        </p:txBody>
      </p:sp>
      <p:pic>
        <p:nvPicPr>
          <p:cNvPr id="7" name="Image 1" descr="preencoded.png"/>
          <p:cNvPicPr>
            <a:picLocks noChangeAspect="1"/>
          </p:cNvPicPr>
          <p:nvPr/>
        </p:nvPicPr>
        <p:blipFill>
          <a:blip r:embed="rId4"/>
          <a:stretch>
            <a:fillRect/>
          </a:stretch>
        </p:blipFill>
        <p:spPr>
          <a:xfrm>
            <a:off x="1583513" y="1691339"/>
            <a:ext cx="385763" cy="342900"/>
          </a:xfrm>
          <a:prstGeom prst="rect">
            <a:avLst/>
          </a:prstGeom>
        </p:spPr>
      </p:pic>
      <p:sp>
        <p:nvSpPr>
          <p:cNvPr id="8" name="Text 3"/>
          <p:cNvSpPr/>
          <p:nvPr/>
        </p:nvSpPr>
        <p:spPr>
          <a:xfrm>
            <a:off x="1635305" y="2173542"/>
            <a:ext cx="282178" cy="217884"/>
          </a:xfrm>
          <a:prstGeom prst="rect">
            <a:avLst/>
          </a:prstGeom>
          <a:noFill/>
          <a:ln/>
        </p:spPr>
        <p:txBody>
          <a:bodyPr wrap="none" lIns="0" tIns="0" rIns="0" bIns="0" rtlCol="0" anchor="t">
            <a:spAutoFit/>
          </a:bodyPr>
          <a:lstStyle/>
          <a:p>
            <a:pPr marL="0" indent="0" algn="ctr">
              <a:buNone/>
            </a:pPr>
            <a:r>
              <a:rPr lang="en-US" sz="1250" dirty="0">
                <a:solidFill>
                  <a:srgbClr val="212529"/>
                </a:solidFill>
                <a:latin typeface="Space Grotesk SemiBold" pitchFamily="34" charset="0"/>
                <a:ea typeface="Space Grotesk SemiBold" pitchFamily="34" charset="-122"/>
                <a:cs typeface="Space Grotesk SemiBold" pitchFamily="34" charset="-120"/>
              </a:rPr>
              <a:t>Piši</a:t>
            </a:r>
            <a:endParaRPr lang="en-US" sz="1250" dirty="0"/>
          </a:p>
        </p:txBody>
      </p:sp>
      <p:sp>
        <p:nvSpPr>
          <p:cNvPr id="9" name="Text 4"/>
          <p:cNvSpPr/>
          <p:nvPr/>
        </p:nvSpPr>
        <p:spPr>
          <a:xfrm>
            <a:off x="571500" y="2462864"/>
            <a:ext cx="2409816" cy="514350"/>
          </a:xfrm>
          <a:prstGeom prst="rect">
            <a:avLst/>
          </a:prstGeom>
          <a:noFill/>
          <a:ln/>
        </p:spPr>
        <p:txBody>
          <a:bodyPr wrap="square" lIns="0" tIns="0" rIns="0" bIns="0" rtlCol="0" anchor="t">
            <a:spAutoFit/>
          </a:bodyPr>
          <a:lstStyle/>
          <a:p>
            <a:pPr marL="0" indent="0" algn="ctr">
              <a:lnSpc>
                <a:spcPct val="120000"/>
              </a:lnSpc>
              <a:buNone/>
            </a:pPr>
            <a:r>
              <a:rPr lang="en-US" sz="850" dirty="0">
                <a:solidFill>
                  <a:srgbClr val="495057"/>
                </a:solidFill>
                <a:latin typeface="Inter" pitchFamily="34" charset="0"/>
                <a:ea typeface="Inter" pitchFamily="34" charset="-122"/>
                <a:cs typeface="Inter" pitchFamily="34" charset="-120"/>
              </a:rPr>
              <a:t>Otvoriš Obsidian i pišeš kao u Wordu. Fokusiraš se na tekst i strukturu bez brige o izgledu.</a:t>
            </a:r>
            <a:endParaRPr lang="en-US" sz="850" dirty="0"/>
          </a:p>
        </p:txBody>
      </p:sp>
      <p:sp>
        <p:nvSpPr>
          <p:cNvPr id="10" name="Shape 5"/>
          <p:cNvSpPr/>
          <p:nvPr/>
        </p:nvSpPr>
        <p:spPr>
          <a:xfrm>
            <a:off x="3224203" y="1312720"/>
            <a:ext cx="2695566" cy="2557463"/>
          </a:xfrm>
          <a:prstGeom prst="rect">
            <a:avLst/>
          </a:prstGeom>
          <a:solidFill>
            <a:srgbClr val="FFFFFF"/>
          </a:solidFill>
          <a:ln/>
        </p:spPr>
        <p:txBody>
          <a:bodyPr/>
          <a:lstStyle/>
          <a:p>
            <a:endParaRPr lang="hr-HR"/>
          </a:p>
        </p:txBody>
      </p:sp>
      <p:sp>
        <p:nvSpPr>
          <p:cNvPr id="11" name="Text 6"/>
          <p:cNvSpPr/>
          <p:nvPr/>
        </p:nvSpPr>
        <p:spPr>
          <a:xfrm>
            <a:off x="4359446" y="1455595"/>
            <a:ext cx="425053" cy="132159"/>
          </a:xfrm>
          <a:prstGeom prst="rect">
            <a:avLst/>
          </a:prstGeom>
          <a:noFill/>
          <a:ln/>
        </p:spPr>
        <p:txBody>
          <a:bodyPr wrap="none" lIns="0" tIns="0" rIns="0" bIns="0" rtlCol="0" anchor="t">
            <a:spAutoFit/>
          </a:bodyPr>
          <a:lstStyle/>
          <a:p>
            <a:pPr marL="0" indent="0" algn="ctr">
              <a:buNone/>
            </a:pPr>
            <a:r>
              <a:rPr lang="en-US" sz="700" dirty="0">
                <a:solidFill>
                  <a:srgbClr val="0D6EFD"/>
                </a:solidFill>
                <a:latin typeface="JetBrains Mono SemiBold" pitchFamily="34" charset="0"/>
                <a:ea typeface="JetBrains Mono SemiBold" pitchFamily="34" charset="-122"/>
                <a:cs typeface="JetBrains Mono SemiBold" pitchFamily="34" charset="-120"/>
              </a:rPr>
              <a:t>KORAK 2</a:t>
            </a:r>
            <a:endParaRPr lang="en-US" sz="700" dirty="0"/>
          </a:p>
        </p:txBody>
      </p:sp>
      <p:pic>
        <p:nvPicPr>
          <p:cNvPr id="12" name="Image 2" descr="preencoded.png"/>
          <p:cNvPicPr>
            <a:picLocks noChangeAspect="1"/>
          </p:cNvPicPr>
          <p:nvPr/>
        </p:nvPicPr>
        <p:blipFill>
          <a:blip r:embed="rId5"/>
          <a:stretch>
            <a:fillRect/>
          </a:stretch>
        </p:blipFill>
        <p:spPr>
          <a:xfrm>
            <a:off x="4421953" y="1691339"/>
            <a:ext cx="300038" cy="342900"/>
          </a:xfrm>
          <a:prstGeom prst="rect">
            <a:avLst/>
          </a:prstGeom>
        </p:spPr>
      </p:pic>
      <p:sp>
        <p:nvSpPr>
          <p:cNvPr id="13" name="Text 7"/>
          <p:cNvSpPr/>
          <p:nvPr/>
        </p:nvSpPr>
        <p:spPr>
          <a:xfrm>
            <a:off x="3922784" y="2173542"/>
            <a:ext cx="1298377" cy="217884"/>
          </a:xfrm>
          <a:prstGeom prst="rect">
            <a:avLst/>
          </a:prstGeom>
          <a:noFill/>
          <a:ln/>
        </p:spPr>
        <p:txBody>
          <a:bodyPr wrap="square" lIns="0" tIns="0" rIns="0" bIns="0" rtlCol="0" anchor="t">
            <a:spAutoFit/>
          </a:bodyPr>
          <a:lstStyle/>
          <a:p>
            <a:pPr marL="0" indent="0" algn="ctr">
              <a:buNone/>
            </a:pPr>
            <a:r>
              <a:rPr lang="en-US" sz="1250" dirty="0">
                <a:solidFill>
                  <a:srgbClr val="212529"/>
                </a:solidFill>
                <a:latin typeface="Space Grotesk SemiBold" pitchFamily="34" charset="0"/>
                <a:ea typeface="Space Grotesk SemiBold" pitchFamily="34" charset="-122"/>
                <a:cs typeface="Space Grotesk SemiBold" pitchFamily="34" charset="-120"/>
              </a:rPr>
              <a:t>Podijeli / Odobri</a:t>
            </a:r>
            <a:endParaRPr lang="en-US" sz="1250" dirty="0"/>
          </a:p>
        </p:txBody>
      </p:sp>
      <p:sp>
        <p:nvSpPr>
          <p:cNvPr id="14" name="Text 8"/>
          <p:cNvSpPr/>
          <p:nvPr/>
        </p:nvSpPr>
        <p:spPr>
          <a:xfrm>
            <a:off x="3367078" y="2462864"/>
            <a:ext cx="2409816" cy="342900"/>
          </a:xfrm>
          <a:prstGeom prst="rect">
            <a:avLst/>
          </a:prstGeom>
          <a:noFill/>
          <a:ln/>
        </p:spPr>
        <p:txBody>
          <a:bodyPr wrap="square" lIns="0" tIns="0" rIns="0" bIns="0" rtlCol="0" anchor="t">
            <a:spAutoFit/>
          </a:bodyPr>
          <a:lstStyle/>
          <a:p>
            <a:pPr marL="0" indent="0" algn="ctr">
              <a:lnSpc>
                <a:spcPct val="120000"/>
              </a:lnSpc>
              <a:buNone/>
            </a:pPr>
            <a:r>
              <a:rPr lang="en-US" sz="850" dirty="0">
                <a:solidFill>
                  <a:srgbClr val="495057"/>
                </a:solidFill>
                <a:latin typeface="Inter" pitchFamily="34" charset="0"/>
                <a:ea typeface="Inter" pitchFamily="34" charset="-122"/>
                <a:cs typeface="Inter" pitchFamily="34" charset="-120"/>
              </a:rPr>
              <a:t>Jedan klik sprema izmjene na server. Kolege pregledavaju i odobravaju kroz Pull Request.</a:t>
            </a:r>
            <a:endParaRPr lang="en-US" sz="850" dirty="0"/>
          </a:p>
        </p:txBody>
      </p:sp>
      <p:sp>
        <p:nvSpPr>
          <p:cNvPr id="15" name="Text 9"/>
          <p:cNvSpPr/>
          <p:nvPr/>
        </p:nvSpPr>
        <p:spPr>
          <a:xfrm>
            <a:off x="3367078" y="2891489"/>
            <a:ext cx="2409816" cy="440736"/>
          </a:xfrm>
          <a:prstGeom prst="rect">
            <a:avLst/>
          </a:prstGeom>
          <a:noFill/>
          <a:ln/>
        </p:spPr>
        <p:txBody>
          <a:bodyPr wrap="square" lIns="0" tIns="85090" rIns="0" bIns="0" rtlCol="0" anchor="t">
            <a:spAutoFit/>
          </a:bodyPr>
          <a:lstStyle/>
          <a:p>
            <a:pPr marL="0" indent="0" algn="ctr">
              <a:lnSpc>
                <a:spcPct val="104000"/>
              </a:lnSpc>
              <a:buNone/>
            </a:pPr>
            <a:r>
              <a:rPr lang="en-US" sz="650" b="1" dirty="0">
                <a:solidFill>
                  <a:srgbClr val="0D6EFD"/>
                </a:solidFill>
                <a:latin typeface="Inter" pitchFamily="34" charset="0"/>
                <a:ea typeface="Inter" pitchFamily="34" charset="-122"/>
                <a:cs typeface="Inter" pitchFamily="34" charset="-120"/>
              </a:rPr>
              <a:t>Pull Request:</a:t>
            </a:r>
            <a:r>
              <a:rPr lang="en-US" sz="650" i="1" dirty="0">
                <a:solidFill>
                  <a:srgbClr val="6C757D"/>
                </a:solidFill>
                <a:latin typeface="Inter" pitchFamily="34" charset="0"/>
                <a:ea typeface="Inter" pitchFamily="34" charset="-122"/>
                <a:cs typeface="Inter" pitchFamily="34" charset="-120"/>
              </a:rPr>
              <a:t> Službeni zahtjev kolegama da pregledaju vaš rad prije nego što se on trajno spoji u glavni dokument.</a:t>
            </a:r>
            <a:endParaRPr lang="en-US" sz="650" dirty="0"/>
          </a:p>
        </p:txBody>
      </p:sp>
      <p:sp>
        <p:nvSpPr>
          <p:cNvPr id="16" name="Shape 10"/>
          <p:cNvSpPr/>
          <p:nvPr/>
        </p:nvSpPr>
        <p:spPr>
          <a:xfrm>
            <a:off x="6019781" y="1312720"/>
            <a:ext cx="2695594" cy="2557463"/>
          </a:xfrm>
          <a:prstGeom prst="rect">
            <a:avLst/>
          </a:prstGeom>
          <a:solidFill>
            <a:srgbClr val="FFFFFF"/>
          </a:solidFill>
          <a:ln/>
        </p:spPr>
        <p:txBody>
          <a:bodyPr/>
          <a:lstStyle/>
          <a:p>
            <a:endParaRPr lang="hr-HR"/>
          </a:p>
        </p:txBody>
      </p:sp>
      <p:sp>
        <p:nvSpPr>
          <p:cNvPr id="17" name="Text 11"/>
          <p:cNvSpPr/>
          <p:nvPr/>
        </p:nvSpPr>
        <p:spPr>
          <a:xfrm>
            <a:off x="7155052" y="1455595"/>
            <a:ext cx="425053" cy="132159"/>
          </a:xfrm>
          <a:prstGeom prst="rect">
            <a:avLst/>
          </a:prstGeom>
          <a:noFill/>
          <a:ln/>
        </p:spPr>
        <p:txBody>
          <a:bodyPr wrap="none" lIns="0" tIns="0" rIns="0" bIns="0" rtlCol="0" anchor="t">
            <a:spAutoFit/>
          </a:bodyPr>
          <a:lstStyle/>
          <a:p>
            <a:pPr marL="0" indent="0" algn="ctr">
              <a:buNone/>
            </a:pPr>
            <a:r>
              <a:rPr lang="en-US" sz="700" dirty="0">
                <a:solidFill>
                  <a:srgbClr val="0D6EFD"/>
                </a:solidFill>
                <a:latin typeface="JetBrains Mono SemiBold" pitchFamily="34" charset="0"/>
                <a:ea typeface="JetBrains Mono SemiBold" pitchFamily="34" charset="-122"/>
                <a:cs typeface="JetBrains Mono SemiBold" pitchFamily="34" charset="-120"/>
              </a:rPr>
              <a:t>KORAK 3</a:t>
            </a:r>
            <a:endParaRPr lang="en-US" sz="700" dirty="0"/>
          </a:p>
        </p:txBody>
      </p:sp>
      <p:pic>
        <p:nvPicPr>
          <p:cNvPr id="18" name="Image 3" descr="preencoded.png"/>
          <p:cNvPicPr>
            <a:picLocks noChangeAspect="1"/>
          </p:cNvPicPr>
          <p:nvPr/>
        </p:nvPicPr>
        <p:blipFill>
          <a:blip r:embed="rId6"/>
          <a:stretch>
            <a:fillRect/>
          </a:stretch>
        </p:blipFill>
        <p:spPr>
          <a:xfrm>
            <a:off x="7238991" y="1691339"/>
            <a:ext cx="257175" cy="342900"/>
          </a:xfrm>
          <a:prstGeom prst="rect">
            <a:avLst/>
          </a:prstGeom>
        </p:spPr>
      </p:pic>
      <p:sp>
        <p:nvSpPr>
          <p:cNvPr id="19" name="Text 12"/>
          <p:cNvSpPr/>
          <p:nvPr/>
        </p:nvSpPr>
        <p:spPr>
          <a:xfrm>
            <a:off x="6997889" y="2173542"/>
            <a:ext cx="739378" cy="217884"/>
          </a:xfrm>
          <a:prstGeom prst="rect">
            <a:avLst/>
          </a:prstGeom>
          <a:noFill/>
          <a:ln/>
        </p:spPr>
        <p:txBody>
          <a:bodyPr wrap="none" lIns="0" tIns="0" rIns="0" bIns="0" rtlCol="0" anchor="t">
            <a:spAutoFit/>
          </a:bodyPr>
          <a:lstStyle/>
          <a:p>
            <a:pPr marL="0" indent="0" algn="ctr">
              <a:buNone/>
            </a:pPr>
            <a:r>
              <a:rPr lang="en-US" sz="1250" dirty="0">
                <a:solidFill>
                  <a:srgbClr val="212529"/>
                </a:solidFill>
                <a:latin typeface="Space Grotesk SemiBold" pitchFamily="34" charset="0"/>
                <a:ea typeface="Space Grotesk SemiBold" pitchFamily="34" charset="-122"/>
                <a:cs typeface="Space Grotesk SemiBold" pitchFamily="34" charset="-120"/>
              </a:rPr>
              <a:t>Generiraj</a:t>
            </a:r>
            <a:endParaRPr lang="en-US" sz="1250" dirty="0"/>
          </a:p>
        </p:txBody>
      </p:sp>
      <p:sp>
        <p:nvSpPr>
          <p:cNvPr id="20" name="Text 13"/>
          <p:cNvSpPr/>
          <p:nvPr/>
        </p:nvSpPr>
        <p:spPr>
          <a:xfrm>
            <a:off x="6162656" y="2462864"/>
            <a:ext cx="2409844" cy="342900"/>
          </a:xfrm>
          <a:prstGeom prst="rect">
            <a:avLst/>
          </a:prstGeom>
          <a:noFill/>
          <a:ln/>
        </p:spPr>
        <p:txBody>
          <a:bodyPr wrap="square" lIns="0" tIns="0" rIns="0" bIns="0" rtlCol="0" anchor="t">
            <a:spAutoFit/>
          </a:bodyPr>
          <a:lstStyle/>
          <a:p>
            <a:pPr marL="0" indent="0" algn="ctr">
              <a:lnSpc>
                <a:spcPct val="120000"/>
              </a:lnSpc>
              <a:buNone/>
            </a:pPr>
            <a:r>
              <a:rPr lang="en-US" sz="850" dirty="0">
                <a:solidFill>
                  <a:srgbClr val="495057"/>
                </a:solidFill>
                <a:latin typeface="Inter" pitchFamily="34" charset="0"/>
                <a:ea typeface="Inter" pitchFamily="34" charset="-122"/>
                <a:cs typeface="Inter" pitchFamily="34" charset="-120"/>
              </a:rPr>
              <a:t>Sustav automatski stvara finalni PDF ili DOCX s ugrađenim dizajnom.</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57788"/>
          </a:xfrm>
          <a:prstGeom prst="rect">
            <a:avLst/>
          </a:prstGeom>
        </p:spPr>
      </p:pic>
      <p:sp>
        <p:nvSpPr>
          <p:cNvPr id="4" name="Text 0"/>
          <p:cNvSpPr/>
          <p:nvPr/>
        </p:nvSpPr>
        <p:spPr>
          <a:xfrm>
            <a:off x="435769" y="435769"/>
            <a:ext cx="8715347" cy="328613"/>
          </a:xfrm>
          <a:prstGeom prst="rect">
            <a:avLst/>
          </a:prstGeom>
          <a:noFill/>
          <a:ln/>
        </p:spPr>
        <p:txBody>
          <a:bodyPr wrap="square" lIns="0" tIns="0" rIns="0" bIns="0" rtlCol="0" anchor="t">
            <a:spAutoFit/>
          </a:bodyPr>
          <a:lstStyle/>
          <a:p>
            <a:pPr marL="0" indent="0" algn="l">
              <a:buNone/>
            </a:pPr>
            <a:r>
              <a:rPr lang="en-US" sz="1800" b="1" dirty="0">
                <a:solidFill>
                  <a:srgbClr val="212529"/>
                </a:solidFill>
                <a:latin typeface="Space Grotesk SemiBold" pitchFamily="34" charset="0"/>
                <a:ea typeface="Space Grotesk SemiBold" pitchFamily="34" charset="-122"/>
                <a:cs typeface="Space Grotesk SemiBold" pitchFamily="34" charset="-120"/>
              </a:rPr>
              <a:t>Modularno pisanje: Kraj 'Merge' konflikata</a:t>
            </a:r>
            <a:endParaRPr lang="en-US" sz="1800" dirty="0"/>
          </a:p>
        </p:txBody>
      </p:sp>
      <p:sp>
        <p:nvSpPr>
          <p:cNvPr id="5" name="Shape 1"/>
          <p:cNvSpPr/>
          <p:nvPr/>
        </p:nvSpPr>
        <p:spPr>
          <a:xfrm>
            <a:off x="435769" y="1916311"/>
            <a:ext cx="3381366" cy="385763"/>
          </a:xfrm>
          <a:prstGeom prst="rect">
            <a:avLst/>
          </a:prstGeom>
          <a:solidFill>
            <a:srgbClr val="FFFFFF"/>
          </a:solidFill>
          <a:ln w="9144">
            <a:solidFill>
              <a:srgbClr val="DEE2E6"/>
            </a:solidFill>
            <a:prstDash val="solid"/>
          </a:ln>
        </p:spPr>
        <p:txBody>
          <a:bodyPr/>
          <a:lstStyle/>
          <a:p>
            <a:endParaRPr lang="hr-HR"/>
          </a:p>
        </p:txBody>
      </p:sp>
      <p:pic>
        <p:nvPicPr>
          <p:cNvPr id="6" name="Image 1" descr="preencoded.png"/>
          <p:cNvPicPr>
            <a:picLocks noChangeAspect="1"/>
          </p:cNvPicPr>
          <p:nvPr/>
        </p:nvPicPr>
        <p:blipFill>
          <a:blip r:embed="rId4"/>
          <a:stretch>
            <a:fillRect/>
          </a:stretch>
        </p:blipFill>
        <p:spPr>
          <a:xfrm>
            <a:off x="578644" y="2080617"/>
            <a:ext cx="100013" cy="100013"/>
          </a:xfrm>
          <a:prstGeom prst="rect">
            <a:avLst/>
          </a:prstGeom>
        </p:spPr>
      </p:pic>
      <p:sp>
        <p:nvSpPr>
          <p:cNvPr id="7" name="Text 2"/>
          <p:cNvSpPr/>
          <p:nvPr/>
        </p:nvSpPr>
        <p:spPr>
          <a:xfrm>
            <a:off x="764381" y="2064544"/>
            <a:ext cx="850106" cy="132159"/>
          </a:xfrm>
          <a:prstGeom prst="rect">
            <a:avLst/>
          </a:prstGeom>
          <a:noFill/>
          <a:ln/>
        </p:spPr>
        <p:txBody>
          <a:bodyPr wrap="none" lIns="0" tIns="0" rIns="0" bIns="0" rtlCol="0" anchor="t">
            <a:spAutoFit/>
          </a:bodyPr>
          <a:lstStyle/>
          <a:p>
            <a:pPr marL="0" indent="0" algn="l">
              <a:buNone/>
            </a:pPr>
            <a:r>
              <a:rPr lang="en-US" sz="750" dirty="0">
                <a:solidFill>
                  <a:srgbClr val="495057"/>
                </a:solidFill>
                <a:latin typeface="JetBrains Mono SemiBold" pitchFamily="34" charset="0"/>
                <a:ea typeface="JetBrains Mono SemiBold" pitchFamily="34" charset="-122"/>
                <a:cs typeface="JetBrains Mono SemiBold" pitchFamily="34" charset="-120"/>
              </a:rPr>
              <a:t>01_Uvod_Ana.md</a:t>
            </a:r>
            <a:endParaRPr lang="en-US" sz="750" dirty="0"/>
          </a:p>
        </p:txBody>
      </p:sp>
      <p:sp>
        <p:nvSpPr>
          <p:cNvPr id="8" name="Shape 3"/>
          <p:cNvSpPr/>
          <p:nvPr/>
        </p:nvSpPr>
        <p:spPr>
          <a:xfrm>
            <a:off x="435769" y="2330648"/>
            <a:ext cx="3381366" cy="385763"/>
          </a:xfrm>
          <a:prstGeom prst="rect">
            <a:avLst/>
          </a:prstGeom>
          <a:solidFill>
            <a:srgbClr val="FFFFFF"/>
          </a:solidFill>
          <a:ln w="9144">
            <a:solidFill>
              <a:srgbClr val="DEE2E6"/>
            </a:solidFill>
            <a:prstDash val="solid"/>
          </a:ln>
        </p:spPr>
        <p:txBody>
          <a:bodyPr/>
          <a:lstStyle/>
          <a:p>
            <a:endParaRPr lang="hr-HR"/>
          </a:p>
        </p:txBody>
      </p:sp>
      <p:pic>
        <p:nvPicPr>
          <p:cNvPr id="9" name="Image 2" descr="preencoded.png"/>
          <p:cNvPicPr>
            <a:picLocks noChangeAspect="1"/>
          </p:cNvPicPr>
          <p:nvPr/>
        </p:nvPicPr>
        <p:blipFill>
          <a:blip r:embed="rId4"/>
          <a:stretch>
            <a:fillRect/>
          </a:stretch>
        </p:blipFill>
        <p:spPr>
          <a:xfrm>
            <a:off x="578644" y="2494955"/>
            <a:ext cx="100013" cy="100013"/>
          </a:xfrm>
          <a:prstGeom prst="rect">
            <a:avLst/>
          </a:prstGeom>
        </p:spPr>
      </p:pic>
      <p:sp>
        <p:nvSpPr>
          <p:cNvPr id="10" name="Text 4"/>
          <p:cNvSpPr/>
          <p:nvPr/>
        </p:nvSpPr>
        <p:spPr>
          <a:xfrm>
            <a:off x="764381" y="2478881"/>
            <a:ext cx="1153716" cy="132159"/>
          </a:xfrm>
          <a:prstGeom prst="rect">
            <a:avLst/>
          </a:prstGeom>
          <a:noFill/>
          <a:ln/>
        </p:spPr>
        <p:txBody>
          <a:bodyPr wrap="none" lIns="0" tIns="0" rIns="0" bIns="0" rtlCol="0" anchor="t">
            <a:spAutoFit/>
          </a:bodyPr>
          <a:lstStyle/>
          <a:p>
            <a:pPr marL="0" indent="0" algn="l">
              <a:buNone/>
            </a:pPr>
            <a:r>
              <a:rPr lang="en-US" sz="750" dirty="0">
                <a:solidFill>
                  <a:srgbClr val="495057"/>
                </a:solidFill>
                <a:latin typeface="JetBrains Mono SemiBold" pitchFamily="34" charset="0"/>
                <a:ea typeface="JetBrains Mono SemiBold" pitchFamily="34" charset="-122"/>
                <a:cs typeface="JetBrains Mono SemiBold" pitchFamily="34" charset="-120"/>
              </a:rPr>
              <a:t>02_Razrada_Marko.md</a:t>
            </a:r>
            <a:endParaRPr lang="en-US" sz="750" dirty="0"/>
          </a:p>
        </p:txBody>
      </p:sp>
      <p:sp>
        <p:nvSpPr>
          <p:cNvPr id="11" name="Shape 5"/>
          <p:cNvSpPr/>
          <p:nvPr/>
        </p:nvSpPr>
        <p:spPr>
          <a:xfrm>
            <a:off x="435769" y="2744986"/>
            <a:ext cx="3381366" cy="385763"/>
          </a:xfrm>
          <a:prstGeom prst="rect">
            <a:avLst/>
          </a:prstGeom>
          <a:solidFill>
            <a:srgbClr val="FFFFFF"/>
          </a:solidFill>
          <a:ln w="9144">
            <a:solidFill>
              <a:srgbClr val="DEE2E6"/>
            </a:solidFill>
            <a:prstDash val="solid"/>
          </a:ln>
        </p:spPr>
        <p:txBody>
          <a:bodyPr/>
          <a:lstStyle/>
          <a:p>
            <a:endParaRPr lang="hr-HR"/>
          </a:p>
        </p:txBody>
      </p:sp>
      <p:pic>
        <p:nvPicPr>
          <p:cNvPr id="12" name="Image 3" descr="preencoded.png"/>
          <p:cNvPicPr>
            <a:picLocks noChangeAspect="1"/>
          </p:cNvPicPr>
          <p:nvPr/>
        </p:nvPicPr>
        <p:blipFill>
          <a:blip r:embed="rId4"/>
          <a:stretch>
            <a:fillRect/>
          </a:stretch>
        </p:blipFill>
        <p:spPr>
          <a:xfrm>
            <a:off x="578644" y="2909292"/>
            <a:ext cx="100013" cy="100013"/>
          </a:xfrm>
          <a:prstGeom prst="rect">
            <a:avLst/>
          </a:prstGeom>
        </p:spPr>
      </p:pic>
      <p:sp>
        <p:nvSpPr>
          <p:cNvPr id="13" name="Text 6"/>
          <p:cNvSpPr/>
          <p:nvPr/>
        </p:nvSpPr>
        <p:spPr>
          <a:xfrm>
            <a:off x="764381" y="2893219"/>
            <a:ext cx="1214438" cy="132159"/>
          </a:xfrm>
          <a:prstGeom prst="rect">
            <a:avLst/>
          </a:prstGeom>
          <a:noFill/>
          <a:ln/>
        </p:spPr>
        <p:txBody>
          <a:bodyPr wrap="none" lIns="0" tIns="0" rIns="0" bIns="0" rtlCol="0" anchor="t">
            <a:spAutoFit/>
          </a:bodyPr>
          <a:lstStyle/>
          <a:p>
            <a:pPr marL="0" indent="0" algn="l">
              <a:buNone/>
            </a:pPr>
            <a:r>
              <a:rPr lang="en-US" sz="750" dirty="0">
                <a:solidFill>
                  <a:srgbClr val="495057"/>
                </a:solidFill>
                <a:latin typeface="JetBrains Mono SemiBold" pitchFamily="34" charset="0"/>
                <a:ea typeface="JetBrains Mono SemiBold" pitchFamily="34" charset="-122"/>
                <a:cs typeface="JetBrains Mono SemiBold" pitchFamily="34" charset="-120"/>
              </a:rPr>
              <a:t>03_Zakljucak_Ivan.md</a:t>
            </a:r>
            <a:endParaRPr lang="en-US" sz="750" dirty="0"/>
          </a:p>
        </p:txBody>
      </p:sp>
      <p:pic>
        <p:nvPicPr>
          <p:cNvPr id="14" name="Image 4" descr="preencoded.png"/>
          <p:cNvPicPr>
            <a:picLocks noChangeAspect="1"/>
          </p:cNvPicPr>
          <p:nvPr/>
        </p:nvPicPr>
        <p:blipFill>
          <a:blip r:embed="rId5"/>
          <a:stretch>
            <a:fillRect/>
          </a:stretch>
        </p:blipFill>
        <p:spPr>
          <a:xfrm>
            <a:off x="2059465" y="3264694"/>
            <a:ext cx="133945" cy="214313"/>
          </a:xfrm>
          <a:prstGeom prst="rect">
            <a:avLst/>
          </a:prstGeom>
        </p:spPr>
      </p:pic>
      <p:sp>
        <p:nvSpPr>
          <p:cNvPr id="15" name="Shape 7"/>
          <p:cNvSpPr/>
          <p:nvPr/>
        </p:nvSpPr>
        <p:spPr>
          <a:xfrm>
            <a:off x="435769" y="3546872"/>
            <a:ext cx="3381366" cy="385763"/>
          </a:xfrm>
          <a:prstGeom prst="rect">
            <a:avLst/>
          </a:prstGeom>
          <a:solidFill>
            <a:srgbClr val="212529"/>
          </a:solidFill>
          <a:ln w="9144">
            <a:solidFill>
              <a:srgbClr val="000000"/>
            </a:solidFill>
            <a:prstDash val="solid"/>
          </a:ln>
        </p:spPr>
        <p:txBody>
          <a:bodyPr/>
          <a:lstStyle/>
          <a:p>
            <a:endParaRPr lang="hr-HR"/>
          </a:p>
        </p:txBody>
      </p:sp>
      <p:pic>
        <p:nvPicPr>
          <p:cNvPr id="16" name="Image 5" descr="preencoded.png"/>
          <p:cNvPicPr>
            <a:picLocks noChangeAspect="1"/>
          </p:cNvPicPr>
          <p:nvPr/>
        </p:nvPicPr>
        <p:blipFill>
          <a:blip r:embed="rId6"/>
          <a:stretch>
            <a:fillRect/>
          </a:stretch>
        </p:blipFill>
        <p:spPr>
          <a:xfrm>
            <a:off x="578644" y="3711178"/>
            <a:ext cx="75009" cy="100013"/>
          </a:xfrm>
          <a:prstGeom prst="rect">
            <a:avLst/>
          </a:prstGeom>
        </p:spPr>
      </p:pic>
      <p:sp>
        <p:nvSpPr>
          <p:cNvPr id="17" name="Text 8"/>
          <p:cNvSpPr/>
          <p:nvPr/>
        </p:nvSpPr>
        <p:spPr>
          <a:xfrm>
            <a:off x="653653" y="3695105"/>
            <a:ext cx="900888" cy="115416"/>
          </a:xfrm>
          <a:prstGeom prst="rect">
            <a:avLst/>
          </a:prstGeom>
          <a:noFill/>
          <a:ln/>
        </p:spPr>
        <p:txBody>
          <a:bodyPr wrap="none" lIns="0" tIns="0" rIns="0" bIns="0" rtlCol="0" anchor="t">
            <a:spAutoFit/>
          </a:bodyPr>
          <a:lstStyle/>
          <a:p>
            <a:pPr marL="0" indent="0" algn="l">
              <a:buNone/>
            </a:pPr>
            <a:r>
              <a:rPr lang="hr-HR" sz="750" dirty="0">
                <a:solidFill>
                  <a:srgbClr val="FFFFFF"/>
                </a:solidFill>
                <a:latin typeface="JetBrains Mono SemiBold" pitchFamily="34" charset="0"/>
                <a:ea typeface="JetBrains Mono SemiBold" pitchFamily="34" charset="-122"/>
                <a:cs typeface="JetBrains Mono SemiBold" pitchFamily="34" charset="-120"/>
              </a:rPr>
              <a:t> </a:t>
            </a:r>
            <a:r>
              <a:rPr lang="en-US" sz="750" dirty="0">
                <a:solidFill>
                  <a:srgbClr val="FFFFFF"/>
                </a:solidFill>
                <a:latin typeface="JetBrains Mono SemiBold" pitchFamily="34" charset="0"/>
                <a:ea typeface="JetBrains Mono SemiBold" pitchFamily="34" charset="-122"/>
                <a:cs typeface="JetBrains Mono SemiBold" pitchFamily="34" charset="-120"/>
              </a:rPr>
              <a:t>Finalni_Dokument.pdf</a:t>
            </a:r>
            <a:endParaRPr lang="en-US" sz="750" dirty="0"/>
          </a:p>
        </p:txBody>
      </p:sp>
      <p:sp>
        <p:nvSpPr>
          <p:cNvPr id="18" name="Shape 9"/>
          <p:cNvSpPr/>
          <p:nvPr/>
        </p:nvSpPr>
        <p:spPr>
          <a:xfrm>
            <a:off x="4102884" y="1916311"/>
            <a:ext cx="4619606" cy="828675"/>
          </a:xfrm>
          <a:prstGeom prst="rect">
            <a:avLst/>
          </a:prstGeom>
          <a:solidFill>
            <a:srgbClr val="FFFFFF"/>
          </a:solidFill>
          <a:ln w="9144">
            <a:solidFill>
              <a:srgbClr val="DEE2E6"/>
            </a:solidFill>
            <a:prstDash val="solid"/>
          </a:ln>
        </p:spPr>
        <p:txBody>
          <a:bodyPr/>
          <a:lstStyle/>
          <a:p>
            <a:endParaRPr lang="hr-HR"/>
          </a:p>
        </p:txBody>
      </p:sp>
      <p:sp>
        <p:nvSpPr>
          <p:cNvPr id="19" name="Text 10"/>
          <p:cNvSpPr/>
          <p:nvPr/>
        </p:nvSpPr>
        <p:spPr>
          <a:xfrm>
            <a:off x="4274334" y="2194917"/>
            <a:ext cx="4276706" cy="182166"/>
          </a:xfrm>
          <a:prstGeom prst="rect">
            <a:avLst/>
          </a:prstGeom>
          <a:noFill/>
          <a:ln/>
        </p:spPr>
        <p:txBody>
          <a:bodyPr wrap="square" lIns="0" tIns="0" rIns="0" bIns="0" rtlCol="0" anchor="t">
            <a:spAutoFit/>
          </a:bodyPr>
          <a:lstStyle/>
          <a:p>
            <a:pPr marL="0" indent="0" algn="l">
              <a:buNone/>
            </a:pPr>
            <a:r>
              <a:rPr lang="en-US" sz="1000" b="1" dirty="0">
                <a:solidFill>
                  <a:srgbClr val="212529"/>
                </a:solidFill>
                <a:latin typeface="Space Grotesk SemiBold" pitchFamily="34" charset="0"/>
                <a:ea typeface="Space Grotesk SemiBold" pitchFamily="34" charset="-122"/>
                <a:cs typeface="Space Grotesk SemiBold" pitchFamily="34" charset="-120"/>
              </a:rPr>
              <a:t>Podjela posla</a:t>
            </a:r>
            <a:endParaRPr lang="en-US" sz="1000" dirty="0"/>
          </a:p>
        </p:txBody>
      </p:sp>
      <p:sp>
        <p:nvSpPr>
          <p:cNvPr id="20" name="Text 11"/>
          <p:cNvSpPr/>
          <p:nvPr/>
        </p:nvSpPr>
        <p:spPr>
          <a:xfrm>
            <a:off x="4274334" y="2403953"/>
            <a:ext cx="4086225" cy="137517"/>
          </a:xfrm>
          <a:prstGeom prst="rect">
            <a:avLst/>
          </a:prstGeom>
          <a:noFill/>
          <a:ln/>
        </p:spPr>
        <p:txBody>
          <a:bodyPr wrap="square" lIns="0" tIns="0" rIns="0" bIns="0" rtlCol="0" anchor="t">
            <a:spAutoFit/>
          </a:bodyPr>
          <a:lstStyle/>
          <a:p>
            <a:pPr marL="0" indent="0" algn="l">
              <a:buNone/>
            </a:pPr>
            <a:r>
              <a:rPr lang="en-US" sz="850" dirty="0">
                <a:solidFill>
                  <a:srgbClr val="495057"/>
                </a:solidFill>
                <a:latin typeface="Inter" pitchFamily="34" charset="0"/>
                <a:ea typeface="Inter" pitchFamily="34" charset="-122"/>
                <a:cs typeface="Inter" pitchFamily="34" charset="-120"/>
              </a:rPr>
              <a:t>Veliki dokument se dijeli na manje datoteke. Ana piše Uvod, Marko Razradu.</a:t>
            </a:r>
            <a:endParaRPr lang="en-US" sz="850" dirty="0"/>
          </a:p>
        </p:txBody>
      </p:sp>
      <p:sp>
        <p:nvSpPr>
          <p:cNvPr id="21" name="Text 12"/>
          <p:cNvSpPr/>
          <p:nvPr/>
        </p:nvSpPr>
        <p:spPr>
          <a:xfrm>
            <a:off x="4274334" y="2559638"/>
            <a:ext cx="2278856" cy="137517"/>
          </a:xfrm>
          <a:prstGeom prst="rect">
            <a:avLst/>
          </a:prstGeom>
          <a:noFill/>
          <a:ln/>
        </p:spPr>
        <p:txBody>
          <a:bodyPr wrap="square" lIns="0" tIns="0" rIns="0" bIns="0" rtlCol="0" anchor="t">
            <a:spAutoFit/>
          </a:bodyPr>
          <a:lstStyle/>
          <a:p>
            <a:pPr marL="0" indent="0" algn="l">
              <a:buNone/>
            </a:pPr>
            <a:r>
              <a:rPr lang="en-US" sz="850" dirty="0">
                <a:solidFill>
                  <a:srgbClr val="495057"/>
                </a:solidFill>
                <a:latin typeface="Inter" pitchFamily="34" charset="0"/>
                <a:ea typeface="Inter" pitchFamily="34" charset="-122"/>
                <a:cs typeface="Inter" pitchFamily="34" charset="-120"/>
              </a:rPr>
              <a:t>Svatko radi u svom izdvojenom okruženju.</a:t>
            </a:r>
            <a:endParaRPr lang="en-US" sz="850" dirty="0"/>
          </a:p>
        </p:txBody>
      </p:sp>
      <p:sp>
        <p:nvSpPr>
          <p:cNvPr id="22" name="Shape 13"/>
          <p:cNvSpPr/>
          <p:nvPr/>
        </p:nvSpPr>
        <p:spPr>
          <a:xfrm>
            <a:off x="4102884" y="2794992"/>
            <a:ext cx="4619606" cy="896541"/>
          </a:xfrm>
          <a:prstGeom prst="rect">
            <a:avLst/>
          </a:prstGeom>
          <a:solidFill>
            <a:srgbClr val="FFFFFF"/>
          </a:solidFill>
          <a:ln w="9144">
            <a:solidFill>
              <a:srgbClr val="DEE2E6"/>
            </a:solidFill>
            <a:prstDash val="solid"/>
          </a:ln>
        </p:spPr>
        <p:txBody>
          <a:bodyPr/>
          <a:lstStyle/>
          <a:p>
            <a:endParaRPr lang="hr-HR"/>
          </a:p>
        </p:txBody>
      </p:sp>
      <p:sp>
        <p:nvSpPr>
          <p:cNvPr id="23" name="Text 14"/>
          <p:cNvSpPr/>
          <p:nvPr/>
        </p:nvSpPr>
        <p:spPr>
          <a:xfrm>
            <a:off x="4274334" y="3073598"/>
            <a:ext cx="4276706" cy="182166"/>
          </a:xfrm>
          <a:prstGeom prst="rect">
            <a:avLst/>
          </a:prstGeom>
          <a:noFill/>
          <a:ln/>
        </p:spPr>
        <p:txBody>
          <a:bodyPr wrap="square" lIns="0" tIns="0" rIns="0" bIns="0" rtlCol="0" anchor="t">
            <a:spAutoFit/>
          </a:bodyPr>
          <a:lstStyle/>
          <a:p>
            <a:pPr marL="0" indent="0" algn="l">
              <a:buNone/>
            </a:pPr>
            <a:r>
              <a:rPr lang="en-US" sz="1000" b="1" dirty="0">
                <a:solidFill>
                  <a:srgbClr val="212529"/>
                </a:solidFill>
                <a:latin typeface="Space Grotesk SemiBold" pitchFamily="34" charset="0"/>
                <a:ea typeface="Space Grotesk SemiBold" pitchFamily="34" charset="-122"/>
                <a:cs typeface="Space Grotesk SemiBold" pitchFamily="34" charset="-120"/>
              </a:rPr>
              <a:t>Automatsko spajanje</a:t>
            </a:r>
            <a:endParaRPr lang="en-US" sz="1000" dirty="0"/>
          </a:p>
        </p:txBody>
      </p:sp>
      <p:sp>
        <p:nvSpPr>
          <p:cNvPr id="24" name="Text 15"/>
          <p:cNvSpPr/>
          <p:nvPr/>
        </p:nvSpPr>
        <p:spPr>
          <a:xfrm>
            <a:off x="4274334" y="3312914"/>
            <a:ext cx="4276706" cy="342900"/>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495057"/>
                </a:solidFill>
                <a:latin typeface="Inter" pitchFamily="34" charset="0"/>
                <a:ea typeface="Inter" pitchFamily="34" charset="-122"/>
                <a:cs typeface="Inter" pitchFamily="34" charset="-120"/>
              </a:rPr>
              <a:t>Quarto na kraju automatski lijepi sve dijelove u jedan PDF ili DOCX prema zadanom redoslijedu.</a:t>
            </a:r>
            <a:endParaRPr lang="en-US" sz="850" dirty="0"/>
          </a:p>
        </p:txBody>
      </p:sp>
      <p:sp>
        <p:nvSpPr>
          <p:cNvPr id="25" name="Shape 16"/>
          <p:cNvSpPr/>
          <p:nvPr/>
        </p:nvSpPr>
        <p:spPr>
          <a:xfrm>
            <a:off x="4102884" y="3741539"/>
            <a:ext cx="4619606" cy="328613"/>
          </a:xfrm>
          <a:prstGeom prst="rect">
            <a:avLst/>
          </a:prstGeom>
          <a:solidFill>
            <a:srgbClr val="E6FCF5"/>
          </a:solidFill>
          <a:ln w="9144">
            <a:solidFill>
              <a:srgbClr val="C3FAE8"/>
            </a:solidFill>
            <a:prstDash val="solid"/>
          </a:ln>
        </p:spPr>
        <p:txBody>
          <a:bodyPr/>
          <a:lstStyle/>
          <a:p>
            <a:endParaRPr lang="hr-HR"/>
          </a:p>
        </p:txBody>
      </p:sp>
      <p:pic>
        <p:nvPicPr>
          <p:cNvPr id="26" name="Image 6" descr="preencoded.png"/>
          <p:cNvPicPr>
            <a:picLocks noChangeAspect="1"/>
          </p:cNvPicPr>
          <p:nvPr/>
        </p:nvPicPr>
        <p:blipFill>
          <a:blip r:embed="rId7"/>
          <a:stretch>
            <a:fillRect/>
          </a:stretch>
        </p:blipFill>
        <p:spPr>
          <a:xfrm>
            <a:off x="4245759" y="3877270"/>
            <a:ext cx="114300" cy="114300"/>
          </a:xfrm>
          <a:prstGeom prst="rect">
            <a:avLst/>
          </a:prstGeom>
        </p:spPr>
      </p:pic>
      <p:sp>
        <p:nvSpPr>
          <p:cNvPr id="27" name="Text 17"/>
          <p:cNvSpPr/>
          <p:nvPr/>
        </p:nvSpPr>
        <p:spPr>
          <a:xfrm>
            <a:off x="4360059" y="3859411"/>
            <a:ext cx="2307431" cy="123111"/>
          </a:xfrm>
          <a:prstGeom prst="rect">
            <a:avLst/>
          </a:prstGeom>
          <a:noFill/>
          <a:ln/>
        </p:spPr>
        <p:txBody>
          <a:bodyPr wrap="square" lIns="0" tIns="0" rIns="0" bIns="0" rtlCol="0" anchor="t">
            <a:spAutoFit/>
          </a:bodyPr>
          <a:lstStyle/>
          <a:p>
            <a:pPr marL="0" indent="0" algn="l">
              <a:buNone/>
            </a:pPr>
            <a:r>
              <a:rPr lang="hr-HR" sz="800" dirty="0">
                <a:solidFill>
                  <a:srgbClr val="087F5B"/>
                </a:solidFill>
                <a:latin typeface="JetBrains Mono SemiBold" pitchFamily="34" charset="0"/>
                <a:ea typeface="JetBrains Mono SemiBold" pitchFamily="34" charset="-122"/>
                <a:cs typeface="JetBrains Mono SemiBold" pitchFamily="34" charset="-120"/>
              </a:rPr>
              <a:t> </a:t>
            </a:r>
            <a:r>
              <a:rPr lang="en-US" sz="800" dirty="0" err="1">
                <a:solidFill>
                  <a:srgbClr val="087F5B"/>
                </a:solidFill>
                <a:latin typeface="JetBrains Mono SemiBold" pitchFamily="34" charset="0"/>
                <a:ea typeface="JetBrains Mono SemiBold" pitchFamily="34" charset="-122"/>
                <a:cs typeface="JetBrains Mono SemiBold" pitchFamily="34" charset="-120"/>
              </a:rPr>
              <a:t>Konflikti</a:t>
            </a:r>
            <a:r>
              <a:rPr lang="en-US" sz="800" dirty="0">
                <a:solidFill>
                  <a:srgbClr val="087F5B"/>
                </a:solidFill>
                <a:latin typeface="JetBrains Mono SemiBold" pitchFamily="34" charset="0"/>
                <a:ea typeface="JetBrains Mono SemiBold" pitchFamily="34" charset="-122"/>
                <a:cs typeface="JetBrains Mono SemiBold" pitchFamily="34" charset="-120"/>
              </a:rPr>
              <a:t> su matematički nemogući.</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57788"/>
          </a:xfrm>
          <a:prstGeom prst="rect">
            <a:avLst/>
          </a:prstGeom>
        </p:spPr>
      </p:pic>
      <p:sp>
        <p:nvSpPr>
          <p:cNvPr id="4" name="Text 0"/>
          <p:cNvSpPr/>
          <p:nvPr/>
        </p:nvSpPr>
        <p:spPr>
          <a:xfrm>
            <a:off x="292894" y="435769"/>
            <a:ext cx="8858250" cy="328613"/>
          </a:xfrm>
          <a:prstGeom prst="rect">
            <a:avLst/>
          </a:prstGeom>
          <a:noFill/>
          <a:ln/>
        </p:spPr>
        <p:txBody>
          <a:bodyPr wrap="square" lIns="0" tIns="0" rIns="0" bIns="0" rtlCol="0" anchor="t">
            <a:spAutoFit/>
          </a:bodyPr>
          <a:lstStyle/>
          <a:p>
            <a:pPr marL="0" indent="0" algn="l">
              <a:buNone/>
            </a:pPr>
            <a:r>
              <a:rPr lang="en-US" sz="1800" b="1" dirty="0">
                <a:solidFill>
                  <a:srgbClr val="212529"/>
                </a:solidFill>
                <a:latin typeface="Space Grotesk SemiBold" pitchFamily="34" charset="0"/>
                <a:ea typeface="Space Grotesk SemiBold" pitchFamily="34" charset="-122"/>
                <a:cs typeface="Space Grotesk SemiBold" pitchFamily="34" charset="-120"/>
              </a:rPr>
              <a:t>Kada koristiti ovaj sustav?</a:t>
            </a:r>
            <a:endParaRPr lang="en-US" sz="1800" dirty="0"/>
          </a:p>
        </p:txBody>
      </p:sp>
      <p:pic>
        <p:nvPicPr>
          <p:cNvPr id="5" name="Image 1" descr="preencoded.png"/>
          <p:cNvPicPr>
            <a:picLocks noChangeAspect="1"/>
          </p:cNvPicPr>
          <p:nvPr/>
        </p:nvPicPr>
        <p:blipFill>
          <a:blip r:embed="rId4"/>
          <a:stretch>
            <a:fillRect/>
          </a:stretch>
        </p:blipFill>
        <p:spPr>
          <a:xfrm>
            <a:off x="207169" y="2057400"/>
            <a:ext cx="171450" cy="171450"/>
          </a:xfrm>
          <a:prstGeom prst="rect">
            <a:avLst/>
          </a:prstGeom>
        </p:spPr>
      </p:pic>
      <p:sp>
        <p:nvSpPr>
          <p:cNvPr id="6" name="Text 1"/>
          <p:cNvSpPr/>
          <p:nvPr/>
        </p:nvSpPr>
        <p:spPr>
          <a:xfrm>
            <a:off x="464344" y="2058293"/>
            <a:ext cx="1689497" cy="169664"/>
          </a:xfrm>
          <a:prstGeom prst="rect">
            <a:avLst/>
          </a:prstGeom>
          <a:noFill/>
          <a:ln/>
        </p:spPr>
        <p:txBody>
          <a:bodyPr wrap="square" lIns="0" tIns="0" rIns="0" bIns="0" rtlCol="0" anchor="t">
            <a:spAutoFit/>
          </a:bodyPr>
          <a:lstStyle/>
          <a:p>
            <a:pPr marL="0" indent="0" algn="l">
              <a:buNone/>
            </a:pPr>
            <a:r>
              <a:rPr lang="en-US" sz="900" dirty="0">
                <a:solidFill>
                  <a:srgbClr val="20C997"/>
                </a:solidFill>
                <a:latin typeface="JetBrains Mono SemiBold" pitchFamily="34" charset="0"/>
                <a:ea typeface="JetBrains Mono SemiBold" pitchFamily="34" charset="-122"/>
                <a:cs typeface="JetBrains Mono SemiBold" pitchFamily="34" charset="-120"/>
              </a:rPr>
              <a:t>Najbolje koristiti za:</a:t>
            </a:r>
            <a:endParaRPr lang="en-US" sz="900" dirty="0"/>
          </a:p>
        </p:txBody>
      </p:sp>
      <p:sp>
        <p:nvSpPr>
          <p:cNvPr id="7" name="Shape 2"/>
          <p:cNvSpPr/>
          <p:nvPr/>
        </p:nvSpPr>
        <p:spPr>
          <a:xfrm>
            <a:off x="207169" y="2286000"/>
            <a:ext cx="4171950" cy="308604"/>
          </a:xfrm>
          <a:prstGeom prst="rect">
            <a:avLst/>
          </a:prstGeom>
          <a:solidFill>
            <a:srgbClr val="FFFFFF"/>
          </a:solidFill>
          <a:ln w="9144">
            <a:solidFill>
              <a:srgbClr val="DEE2E6"/>
            </a:solidFill>
            <a:prstDash val="solid"/>
          </a:ln>
        </p:spPr>
        <p:txBody>
          <a:bodyPr/>
          <a:lstStyle/>
          <a:p>
            <a:endParaRPr lang="hr-HR"/>
          </a:p>
        </p:txBody>
      </p:sp>
      <p:sp>
        <p:nvSpPr>
          <p:cNvPr id="8" name="Text 3"/>
          <p:cNvSpPr/>
          <p:nvPr/>
        </p:nvSpPr>
        <p:spPr>
          <a:xfrm>
            <a:off x="207169" y="2286000"/>
            <a:ext cx="4171950" cy="308604"/>
          </a:xfrm>
          <a:prstGeom prst="rect">
            <a:avLst/>
          </a:prstGeom>
          <a:noFill/>
          <a:ln/>
        </p:spPr>
        <p:txBody>
          <a:bodyPr wrap="square" lIns="102108" tIns="68072" rIns="102108" bIns="68072" rtlCol="0" anchor="t">
            <a:spAutoFit/>
          </a:bodyPr>
          <a:lstStyle/>
          <a:p>
            <a:pPr marL="0" indent="0" algn="l">
              <a:lnSpc>
                <a:spcPct val="112000"/>
              </a:lnSpc>
              <a:buNone/>
            </a:pPr>
            <a:r>
              <a:rPr lang="en-US" sz="950" dirty="0">
                <a:solidFill>
                  <a:srgbClr val="495057"/>
                </a:solidFill>
                <a:latin typeface="Inter" pitchFamily="34" charset="0"/>
                <a:ea typeface="Inter" pitchFamily="34" charset="-122"/>
                <a:cs typeface="Inter" pitchFamily="34" charset="-120"/>
              </a:rPr>
              <a:t>EU projektne prijave i izvješća</a:t>
            </a:r>
            <a:endParaRPr lang="en-US" sz="950" dirty="0"/>
          </a:p>
        </p:txBody>
      </p:sp>
      <p:sp>
        <p:nvSpPr>
          <p:cNvPr id="9" name="Shape 4"/>
          <p:cNvSpPr/>
          <p:nvPr/>
        </p:nvSpPr>
        <p:spPr>
          <a:xfrm>
            <a:off x="207169" y="2630323"/>
            <a:ext cx="4171950" cy="308604"/>
          </a:xfrm>
          <a:prstGeom prst="rect">
            <a:avLst/>
          </a:prstGeom>
          <a:solidFill>
            <a:srgbClr val="FFFFFF"/>
          </a:solidFill>
          <a:ln w="9144">
            <a:solidFill>
              <a:srgbClr val="DEE2E6"/>
            </a:solidFill>
            <a:prstDash val="solid"/>
          </a:ln>
        </p:spPr>
        <p:txBody>
          <a:bodyPr/>
          <a:lstStyle/>
          <a:p>
            <a:endParaRPr lang="hr-HR"/>
          </a:p>
        </p:txBody>
      </p:sp>
      <p:sp>
        <p:nvSpPr>
          <p:cNvPr id="10" name="Text 5"/>
          <p:cNvSpPr/>
          <p:nvPr/>
        </p:nvSpPr>
        <p:spPr>
          <a:xfrm>
            <a:off x="207169" y="2630323"/>
            <a:ext cx="4171950" cy="308604"/>
          </a:xfrm>
          <a:prstGeom prst="rect">
            <a:avLst/>
          </a:prstGeom>
          <a:noFill/>
          <a:ln/>
        </p:spPr>
        <p:txBody>
          <a:bodyPr wrap="square" lIns="102108" tIns="68072" rIns="102108" bIns="68072" rtlCol="0" anchor="t">
            <a:spAutoFit/>
          </a:bodyPr>
          <a:lstStyle/>
          <a:p>
            <a:pPr marL="0" indent="0" algn="l">
              <a:lnSpc>
                <a:spcPct val="112000"/>
              </a:lnSpc>
              <a:buNone/>
            </a:pPr>
            <a:r>
              <a:rPr lang="en-US" sz="950" dirty="0">
                <a:solidFill>
                  <a:srgbClr val="495057"/>
                </a:solidFill>
                <a:latin typeface="Inter" pitchFamily="34" charset="0"/>
                <a:ea typeface="Inter" pitchFamily="34" charset="-122"/>
                <a:cs typeface="Inter" pitchFamily="34" charset="-120"/>
              </a:rPr>
              <a:t>DMP i upravljanje podacima</a:t>
            </a:r>
            <a:endParaRPr lang="en-US" sz="950" dirty="0"/>
          </a:p>
        </p:txBody>
      </p:sp>
      <p:sp>
        <p:nvSpPr>
          <p:cNvPr id="11" name="Shape 6"/>
          <p:cNvSpPr/>
          <p:nvPr/>
        </p:nvSpPr>
        <p:spPr>
          <a:xfrm>
            <a:off x="207169" y="2974646"/>
            <a:ext cx="4171950" cy="308604"/>
          </a:xfrm>
          <a:prstGeom prst="rect">
            <a:avLst/>
          </a:prstGeom>
          <a:solidFill>
            <a:srgbClr val="FFFFFF"/>
          </a:solidFill>
          <a:ln w="9144">
            <a:solidFill>
              <a:srgbClr val="DEE2E6"/>
            </a:solidFill>
            <a:prstDash val="solid"/>
          </a:ln>
        </p:spPr>
        <p:txBody>
          <a:bodyPr/>
          <a:lstStyle/>
          <a:p>
            <a:endParaRPr lang="hr-HR"/>
          </a:p>
        </p:txBody>
      </p:sp>
      <p:sp>
        <p:nvSpPr>
          <p:cNvPr id="12" name="Text 7"/>
          <p:cNvSpPr/>
          <p:nvPr/>
        </p:nvSpPr>
        <p:spPr>
          <a:xfrm>
            <a:off x="207169" y="2974646"/>
            <a:ext cx="4171950" cy="308604"/>
          </a:xfrm>
          <a:prstGeom prst="rect">
            <a:avLst/>
          </a:prstGeom>
          <a:noFill/>
          <a:ln/>
        </p:spPr>
        <p:txBody>
          <a:bodyPr wrap="square" lIns="102108" tIns="68072" rIns="102108" bIns="68072" rtlCol="0" anchor="t">
            <a:spAutoFit/>
          </a:bodyPr>
          <a:lstStyle/>
          <a:p>
            <a:pPr marL="0" indent="0" algn="l">
              <a:lnSpc>
                <a:spcPct val="112000"/>
              </a:lnSpc>
              <a:buNone/>
            </a:pPr>
            <a:r>
              <a:rPr lang="en-US" sz="950" dirty="0">
                <a:solidFill>
                  <a:srgbClr val="495057"/>
                </a:solidFill>
                <a:latin typeface="Inter" pitchFamily="34" charset="0"/>
                <a:ea typeface="Inter" pitchFamily="34" charset="-122"/>
                <a:cs typeface="Inter" pitchFamily="34" charset="-120"/>
              </a:rPr>
              <a:t>Diplomski i doktorski radovi</a:t>
            </a:r>
            <a:endParaRPr lang="en-US" sz="950" dirty="0"/>
          </a:p>
        </p:txBody>
      </p:sp>
      <p:sp>
        <p:nvSpPr>
          <p:cNvPr id="13" name="Shape 8"/>
          <p:cNvSpPr/>
          <p:nvPr/>
        </p:nvSpPr>
        <p:spPr>
          <a:xfrm>
            <a:off x="207169" y="3318970"/>
            <a:ext cx="4171950" cy="308604"/>
          </a:xfrm>
          <a:prstGeom prst="rect">
            <a:avLst/>
          </a:prstGeom>
          <a:solidFill>
            <a:srgbClr val="FFFFFF"/>
          </a:solidFill>
          <a:ln w="9144">
            <a:solidFill>
              <a:srgbClr val="DEE2E6"/>
            </a:solidFill>
            <a:prstDash val="solid"/>
          </a:ln>
        </p:spPr>
        <p:txBody>
          <a:bodyPr/>
          <a:lstStyle/>
          <a:p>
            <a:endParaRPr lang="hr-HR"/>
          </a:p>
        </p:txBody>
      </p:sp>
      <p:sp>
        <p:nvSpPr>
          <p:cNvPr id="14" name="Text 9"/>
          <p:cNvSpPr/>
          <p:nvPr/>
        </p:nvSpPr>
        <p:spPr>
          <a:xfrm>
            <a:off x="207169" y="3318970"/>
            <a:ext cx="4171950" cy="308604"/>
          </a:xfrm>
          <a:prstGeom prst="rect">
            <a:avLst/>
          </a:prstGeom>
          <a:noFill/>
          <a:ln/>
        </p:spPr>
        <p:txBody>
          <a:bodyPr wrap="square" lIns="102108" tIns="68072" rIns="102108" bIns="68072" rtlCol="0" anchor="t">
            <a:spAutoFit/>
          </a:bodyPr>
          <a:lstStyle/>
          <a:p>
            <a:pPr marL="0" indent="0" algn="l">
              <a:lnSpc>
                <a:spcPct val="112000"/>
              </a:lnSpc>
              <a:buNone/>
            </a:pPr>
            <a:r>
              <a:rPr lang="en-US" sz="950" dirty="0">
                <a:solidFill>
                  <a:srgbClr val="495057"/>
                </a:solidFill>
                <a:latin typeface="Inter" pitchFamily="34" charset="0"/>
                <a:ea typeface="Inter" pitchFamily="34" charset="-122"/>
                <a:cs typeface="Inter" pitchFamily="34" charset="-120"/>
              </a:rPr>
              <a:t>Timski elaborati i studije</a:t>
            </a:r>
            <a:endParaRPr lang="en-US" sz="950" dirty="0"/>
          </a:p>
        </p:txBody>
      </p:sp>
      <p:sp>
        <p:nvSpPr>
          <p:cNvPr id="15" name="Shape 10"/>
          <p:cNvSpPr/>
          <p:nvPr/>
        </p:nvSpPr>
        <p:spPr>
          <a:xfrm>
            <a:off x="207169" y="3663293"/>
            <a:ext cx="4171950" cy="308604"/>
          </a:xfrm>
          <a:prstGeom prst="rect">
            <a:avLst/>
          </a:prstGeom>
          <a:solidFill>
            <a:srgbClr val="FFFFFF"/>
          </a:solidFill>
          <a:ln w="9144">
            <a:solidFill>
              <a:srgbClr val="DEE2E6"/>
            </a:solidFill>
            <a:prstDash val="solid"/>
          </a:ln>
        </p:spPr>
        <p:txBody>
          <a:bodyPr/>
          <a:lstStyle/>
          <a:p>
            <a:endParaRPr lang="hr-HR"/>
          </a:p>
        </p:txBody>
      </p:sp>
      <p:sp>
        <p:nvSpPr>
          <p:cNvPr id="16" name="Text 11"/>
          <p:cNvSpPr/>
          <p:nvPr/>
        </p:nvSpPr>
        <p:spPr>
          <a:xfrm>
            <a:off x="207169" y="3663293"/>
            <a:ext cx="4171950" cy="308604"/>
          </a:xfrm>
          <a:prstGeom prst="rect">
            <a:avLst/>
          </a:prstGeom>
          <a:noFill/>
          <a:ln/>
        </p:spPr>
        <p:txBody>
          <a:bodyPr wrap="square" lIns="102108" tIns="68072" rIns="102108" bIns="68072" rtlCol="0" anchor="t">
            <a:spAutoFit/>
          </a:bodyPr>
          <a:lstStyle/>
          <a:p>
            <a:pPr marL="0" indent="0" algn="l">
              <a:lnSpc>
                <a:spcPct val="112000"/>
              </a:lnSpc>
              <a:buNone/>
            </a:pPr>
            <a:r>
              <a:rPr lang="en-US" sz="950" dirty="0">
                <a:solidFill>
                  <a:srgbClr val="495057"/>
                </a:solidFill>
                <a:latin typeface="Inter" pitchFamily="34" charset="0"/>
                <a:ea typeface="Inter" pitchFamily="34" charset="-122"/>
                <a:cs typeface="Inter" pitchFamily="34" charset="-120"/>
              </a:rPr>
              <a:t>Dugoročna znanstvena dokumentacija</a:t>
            </a:r>
            <a:endParaRPr lang="en-US" sz="950" dirty="0"/>
          </a:p>
        </p:txBody>
      </p:sp>
      <p:sp>
        <p:nvSpPr>
          <p:cNvPr id="17" name="Shape 12"/>
          <p:cNvSpPr/>
          <p:nvPr/>
        </p:nvSpPr>
        <p:spPr>
          <a:xfrm>
            <a:off x="4579144" y="2007394"/>
            <a:ext cx="4572000" cy="3143250"/>
          </a:xfrm>
          <a:prstGeom prst="rect">
            <a:avLst/>
          </a:prstGeom>
          <a:solidFill>
            <a:srgbClr val="000000">
              <a:alpha val="0"/>
            </a:srgbClr>
          </a:solidFill>
          <a:ln/>
        </p:spPr>
        <p:txBody>
          <a:bodyPr/>
          <a:lstStyle/>
          <a:p>
            <a:endParaRPr lang="hr-HR"/>
          </a:p>
        </p:txBody>
      </p:sp>
      <p:sp>
        <p:nvSpPr>
          <p:cNvPr id="18" name="Shape 13"/>
          <p:cNvSpPr/>
          <p:nvPr/>
        </p:nvSpPr>
        <p:spPr>
          <a:xfrm>
            <a:off x="4579144" y="2007394"/>
            <a:ext cx="7144" cy="3143250"/>
          </a:xfrm>
          <a:prstGeom prst="rect">
            <a:avLst/>
          </a:prstGeom>
          <a:solidFill>
            <a:srgbClr val="DEE2E6"/>
          </a:solidFill>
          <a:ln/>
        </p:spPr>
        <p:txBody>
          <a:bodyPr/>
          <a:lstStyle/>
          <a:p>
            <a:endParaRPr lang="hr-HR"/>
          </a:p>
        </p:txBody>
      </p:sp>
      <p:pic>
        <p:nvPicPr>
          <p:cNvPr id="19" name="Image 2" descr="preencoded.png"/>
          <p:cNvPicPr>
            <a:picLocks noChangeAspect="1"/>
          </p:cNvPicPr>
          <p:nvPr/>
        </p:nvPicPr>
        <p:blipFill>
          <a:blip r:embed="rId5"/>
          <a:stretch>
            <a:fillRect/>
          </a:stretch>
        </p:blipFill>
        <p:spPr>
          <a:xfrm>
            <a:off x="4779169" y="2093119"/>
            <a:ext cx="171450" cy="171450"/>
          </a:xfrm>
          <a:prstGeom prst="rect">
            <a:avLst/>
          </a:prstGeom>
        </p:spPr>
      </p:pic>
      <p:sp>
        <p:nvSpPr>
          <p:cNvPr id="20" name="Text 14"/>
          <p:cNvSpPr/>
          <p:nvPr/>
        </p:nvSpPr>
        <p:spPr>
          <a:xfrm>
            <a:off x="5036344" y="2094012"/>
            <a:ext cx="1382316" cy="169664"/>
          </a:xfrm>
          <a:prstGeom prst="rect">
            <a:avLst/>
          </a:prstGeom>
          <a:noFill/>
          <a:ln/>
        </p:spPr>
        <p:txBody>
          <a:bodyPr wrap="square" lIns="0" tIns="0" rIns="0" bIns="0" rtlCol="0" anchor="t">
            <a:spAutoFit/>
          </a:bodyPr>
          <a:lstStyle/>
          <a:p>
            <a:pPr marL="0" indent="0" algn="l">
              <a:buNone/>
            </a:pPr>
            <a:r>
              <a:rPr lang="en-US" sz="900" dirty="0">
                <a:solidFill>
                  <a:srgbClr val="ADB5BD"/>
                </a:solidFill>
                <a:latin typeface="JetBrains Mono SemiBold" pitchFamily="34" charset="0"/>
                <a:ea typeface="JetBrains Mono SemiBold" pitchFamily="34" charset="-122"/>
                <a:cs typeface="JetBrains Mono SemiBold" pitchFamily="34" charset="-120"/>
              </a:rPr>
              <a:t>Bolje izbjegavati:</a:t>
            </a:r>
            <a:endParaRPr lang="en-US" sz="900" dirty="0"/>
          </a:p>
        </p:txBody>
      </p:sp>
      <p:sp>
        <p:nvSpPr>
          <p:cNvPr id="21" name="Shape 15"/>
          <p:cNvSpPr/>
          <p:nvPr/>
        </p:nvSpPr>
        <p:spPr>
          <a:xfrm>
            <a:off x="4779169" y="2321719"/>
            <a:ext cx="4171950" cy="308604"/>
          </a:xfrm>
          <a:prstGeom prst="rect">
            <a:avLst/>
          </a:prstGeom>
          <a:solidFill>
            <a:srgbClr val="F1F3F5"/>
          </a:solidFill>
          <a:ln w="9144">
            <a:solidFill>
              <a:srgbClr val="DEE2E6"/>
            </a:solidFill>
            <a:prstDash val="solid"/>
          </a:ln>
        </p:spPr>
        <p:txBody>
          <a:bodyPr/>
          <a:lstStyle/>
          <a:p>
            <a:endParaRPr lang="hr-HR"/>
          </a:p>
        </p:txBody>
      </p:sp>
      <p:sp>
        <p:nvSpPr>
          <p:cNvPr id="22" name="Text 16"/>
          <p:cNvSpPr/>
          <p:nvPr/>
        </p:nvSpPr>
        <p:spPr>
          <a:xfrm>
            <a:off x="4779169" y="2321719"/>
            <a:ext cx="4171950" cy="308604"/>
          </a:xfrm>
          <a:prstGeom prst="rect">
            <a:avLst/>
          </a:prstGeom>
          <a:noFill/>
          <a:ln/>
        </p:spPr>
        <p:txBody>
          <a:bodyPr wrap="square" lIns="102108" tIns="68072" rIns="102108" bIns="68072" rtlCol="0" anchor="t">
            <a:spAutoFit/>
          </a:bodyPr>
          <a:lstStyle/>
          <a:p>
            <a:pPr marL="0" indent="0" algn="l">
              <a:lnSpc>
                <a:spcPct val="112000"/>
              </a:lnSpc>
              <a:buNone/>
            </a:pPr>
            <a:r>
              <a:rPr lang="en-US" sz="950" dirty="0">
                <a:solidFill>
                  <a:srgbClr val="868E96"/>
                </a:solidFill>
                <a:latin typeface="Inter" pitchFamily="34" charset="0"/>
                <a:ea typeface="Inter" pitchFamily="34" charset="-122"/>
                <a:cs typeface="Inter" pitchFamily="34" charset="-120"/>
              </a:rPr>
              <a:t>Kratki interni dopisi</a:t>
            </a:r>
            <a:endParaRPr lang="en-US" sz="950" dirty="0"/>
          </a:p>
        </p:txBody>
      </p:sp>
      <p:sp>
        <p:nvSpPr>
          <p:cNvPr id="23" name="Shape 17"/>
          <p:cNvSpPr/>
          <p:nvPr/>
        </p:nvSpPr>
        <p:spPr>
          <a:xfrm>
            <a:off x="4779169" y="2658898"/>
            <a:ext cx="4171950" cy="308604"/>
          </a:xfrm>
          <a:prstGeom prst="rect">
            <a:avLst/>
          </a:prstGeom>
          <a:solidFill>
            <a:srgbClr val="F1F3F5"/>
          </a:solidFill>
          <a:ln w="9144">
            <a:solidFill>
              <a:srgbClr val="DEE2E6"/>
            </a:solidFill>
            <a:prstDash val="solid"/>
          </a:ln>
        </p:spPr>
        <p:txBody>
          <a:bodyPr/>
          <a:lstStyle/>
          <a:p>
            <a:endParaRPr lang="hr-HR"/>
          </a:p>
        </p:txBody>
      </p:sp>
      <p:sp>
        <p:nvSpPr>
          <p:cNvPr id="24" name="Text 18"/>
          <p:cNvSpPr/>
          <p:nvPr/>
        </p:nvSpPr>
        <p:spPr>
          <a:xfrm>
            <a:off x="4779169" y="2658898"/>
            <a:ext cx="4171950" cy="308604"/>
          </a:xfrm>
          <a:prstGeom prst="rect">
            <a:avLst/>
          </a:prstGeom>
          <a:noFill/>
          <a:ln/>
        </p:spPr>
        <p:txBody>
          <a:bodyPr wrap="square" lIns="102108" tIns="68072" rIns="102108" bIns="68072" rtlCol="0" anchor="t">
            <a:spAutoFit/>
          </a:bodyPr>
          <a:lstStyle/>
          <a:p>
            <a:pPr marL="0" indent="0" algn="l">
              <a:lnSpc>
                <a:spcPct val="112000"/>
              </a:lnSpc>
              <a:buNone/>
            </a:pPr>
            <a:r>
              <a:rPr lang="en-US" sz="950" dirty="0">
                <a:solidFill>
                  <a:srgbClr val="868E96"/>
                </a:solidFill>
                <a:latin typeface="Inter" pitchFamily="34" charset="0"/>
                <a:ea typeface="Inter" pitchFamily="34" charset="-122"/>
                <a:cs typeface="Inter" pitchFamily="34" charset="-120"/>
              </a:rPr>
              <a:t>Jednokratne bilješke</a:t>
            </a:r>
            <a:endParaRPr lang="en-US" sz="950" dirty="0"/>
          </a:p>
        </p:txBody>
      </p:sp>
      <p:sp>
        <p:nvSpPr>
          <p:cNvPr id="25" name="Shape 19"/>
          <p:cNvSpPr/>
          <p:nvPr/>
        </p:nvSpPr>
        <p:spPr>
          <a:xfrm>
            <a:off x="4779169" y="2996078"/>
            <a:ext cx="4171950" cy="308604"/>
          </a:xfrm>
          <a:prstGeom prst="rect">
            <a:avLst/>
          </a:prstGeom>
          <a:solidFill>
            <a:srgbClr val="F1F3F5"/>
          </a:solidFill>
          <a:ln w="9144">
            <a:solidFill>
              <a:srgbClr val="DEE2E6"/>
            </a:solidFill>
            <a:prstDash val="solid"/>
          </a:ln>
        </p:spPr>
        <p:txBody>
          <a:bodyPr/>
          <a:lstStyle/>
          <a:p>
            <a:endParaRPr lang="hr-HR"/>
          </a:p>
        </p:txBody>
      </p:sp>
      <p:sp>
        <p:nvSpPr>
          <p:cNvPr id="26" name="Text 20"/>
          <p:cNvSpPr/>
          <p:nvPr/>
        </p:nvSpPr>
        <p:spPr>
          <a:xfrm>
            <a:off x="4779169" y="2996078"/>
            <a:ext cx="4171950" cy="308604"/>
          </a:xfrm>
          <a:prstGeom prst="rect">
            <a:avLst/>
          </a:prstGeom>
          <a:noFill/>
          <a:ln/>
        </p:spPr>
        <p:txBody>
          <a:bodyPr wrap="square" lIns="102108" tIns="68072" rIns="102108" bIns="68072" rtlCol="0" anchor="t">
            <a:spAutoFit/>
          </a:bodyPr>
          <a:lstStyle/>
          <a:p>
            <a:pPr marL="0" indent="0" algn="l">
              <a:lnSpc>
                <a:spcPct val="112000"/>
              </a:lnSpc>
              <a:buNone/>
            </a:pPr>
            <a:r>
              <a:rPr lang="en-US" sz="950" dirty="0">
                <a:solidFill>
                  <a:srgbClr val="868E96"/>
                </a:solidFill>
                <a:latin typeface="Inter" pitchFamily="34" charset="0"/>
                <a:ea typeface="Inter" pitchFamily="34" charset="-122"/>
                <a:cs typeface="Inter" pitchFamily="34" charset="-120"/>
              </a:rPr>
              <a:t>Dokumenti za jednu osobu</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642072"/>
            <a:ext cx="8715375" cy="328613"/>
          </a:xfrm>
          <a:prstGeom prst="rect">
            <a:avLst/>
          </a:prstGeom>
          <a:noFill/>
          <a:ln/>
        </p:spPr>
        <p:txBody>
          <a:bodyPr wrap="square" lIns="0" tIns="0" rIns="0" bIns="0" rtlCol="0" anchor="t">
            <a:spAutoFit/>
          </a:bodyPr>
          <a:lstStyle/>
          <a:p>
            <a:pPr marL="0" indent="0" algn="l">
              <a:buNone/>
            </a:pPr>
            <a:r>
              <a:rPr lang="en-US" sz="1800" b="1" dirty="0">
                <a:solidFill>
                  <a:srgbClr val="212529"/>
                </a:solidFill>
                <a:latin typeface="Space Grotesk SemiBold" pitchFamily="34" charset="0"/>
                <a:ea typeface="Space Grotesk SemiBold" pitchFamily="34" charset="-122"/>
                <a:cs typeface="Space Grotesk SemiBold" pitchFamily="34" charset="-120"/>
              </a:rPr>
              <a:t>Pilot faza: Kako započeti već danas?</a:t>
            </a:r>
            <a:endParaRPr lang="en-US" sz="1800" dirty="0"/>
          </a:p>
        </p:txBody>
      </p:sp>
      <p:sp>
        <p:nvSpPr>
          <p:cNvPr id="5" name="Shape 1"/>
          <p:cNvSpPr/>
          <p:nvPr/>
        </p:nvSpPr>
        <p:spPr>
          <a:xfrm>
            <a:off x="342900" y="1241282"/>
            <a:ext cx="4193381" cy="703659"/>
          </a:xfrm>
          <a:prstGeom prst="rect">
            <a:avLst/>
          </a:prstGeom>
          <a:solidFill>
            <a:srgbClr val="FFFFFF"/>
          </a:solidFill>
          <a:ln w="9144">
            <a:solidFill>
              <a:srgbClr val="DEE2E6"/>
            </a:solidFill>
            <a:prstDash val="solid"/>
          </a:ln>
        </p:spPr>
        <p:txBody>
          <a:bodyPr/>
          <a:lstStyle/>
          <a:p>
            <a:endParaRPr lang="hr-HR"/>
          </a:p>
        </p:txBody>
      </p:sp>
      <p:sp>
        <p:nvSpPr>
          <p:cNvPr id="6" name="Text 2"/>
          <p:cNvSpPr/>
          <p:nvPr/>
        </p:nvSpPr>
        <p:spPr>
          <a:xfrm>
            <a:off x="471488" y="1327007"/>
            <a:ext cx="275034" cy="228600"/>
          </a:xfrm>
          <a:prstGeom prst="rect">
            <a:avLst/>
          </a:prstGeom>
          <a:noFill/>
          <a:ln/>
        </p:spPr>
        <p:txBody>
          <a:bodyPr wrap="none" lIns="0" tIns="0" rIns="0" bIns="0" rtlCol="0" anchor="t">
            <a:spAutoFit/>
          </a:bodyPr>
          <a:lstStyle/>
          <a:p>
            <a:pPr marL="0" indent="0" algn="l">
              <a:lnSpc>
                <a:spcPct val="80000"/>
              </a:lnSpc>
              <a:buNone/>
            </a:pPr>
            <a:r>
              <a:rPr lang="en-US" sz="1600" dirty="0">
                <a:solidFill>
                  <a:srgbClr val="0D6EFD"/>
                </a:solidFill>
                <a:latin typeface="JetBrains Mono SemiBold" pitchFamily="34" charset="0"/>
                <a:ea typeface="JetBrains Mono SemiBold" pitchFamily="34" charset="-122"/>
                <a:cs typeface="JetBrains Mono SemiBold" pitchFamily="34" charset="-120"/>
              </a:rPr>
              <a:t>1.</a:t>
            </a:r>
            <a:endParaRPr lang="en-US" sz="1600" dirty="0"/>
          </a:p>
        </p:txBody>
      </p:sp>
      <p:sp>
        <p:nvSpPr>
          <p:cNvPr id="7" name="Text 3"/>
          <p:cNvSpPr/>
          <p:nvPr/>
        </p:nvSpPr>
        <p:spPr>
          <a:xfrm>
            <a:off x="832247" y="1469882"/>
            <a:ext cx="2462808" cy="182166"/>
          </a:xfrm>
          <a:prstGeom prst="rect">
            <a:avLst/>
          </a:prstGeom>
          <a:noFill/>
          <a:ln/>
        </p:spPr>
        <p:txBody>
          <a:bodyPr wrap="square" lIns="0" tIns="0" rIns="0" bIns="0" rtlCol="0" anchor="t">
            <a:spAutoFit/>
          </a:bodyPr>
          <a:lstStyle/>
          <a:p>
            <a:pPr marL="0" indent="0" algn="l">
              <a:buNone/>
            </a:pPr>
            <a:r>
              <a:rPr lang="en-US" sz="1000" b="1" dirty="0">
                <a:solidFill>
                  <a:srgbClr val="212529"/>
                </a:solidFill>
                <a:latin typeface="Space Grotesk SemiBold" pitchFamily="34" charset="0"/>
                <a:ea typeface="Space Grotesk SemiBold" pitchFamily="34" charset="-122"/>
                <a:cs typeface="Space Grotesk SemiBold" pitchFamily="34" charset="-120"/>
              </a:rPr>
              <a:t>Instalirajte alate</a:t>
            </a:r>
            <a:endParaRPr lang="en-US" sz="1000" dirty="0"/>
          </a:p>
        </p:txBody>
      </p:sp>
      <p:sp>
        <p:nvSpPr>
          <p:cNvPr id="8" name="Text 4"/>
          <p:cNvSpPr/>
          <p:nvPr/>
        </p:nvSpPr>
        <p:spPr>
          <a:xfrm>
            <a:off x="832247" y="1694910"/>
            <a:ext cx="2462808" cy="150019"/>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495057"/>
                </a:solidFill>
                <a:latin typeface="Inter" pitchFamily="34" charset="0"/>
                <a:ea typeface="Inter" pitchFamily="34" charset="-122"/>
                <a:cs typeface="Inter" pitchFamily="34" charset="-120"/>
              </a:rPr>
              <a:t>Preuzmite i instalirajte Git, Quarto CLI i Obsidian.</a:t>
            </a:r>
            <a:endParaRPr lang="en-US" sz="800" dirty="0"/>
          </a:p>
        </p:txBody>
      </p:sp>
      <p:sp>
        <p:nvSpPr>
          <p:cNvPr id="9" name="Shape 5"/>
          <p:cNvSpPr/>
          <p:nvPr/>
        </p:nvSpPr>
        <p:spPr>
          <a:xfrm>
            <a:off x="4607719" y="1241282"/>
            <a:ext cx="4193381" cy="703659"/>
          </a:xfrm>
          <a:prstGeom prst="rect">
            <a:avLst/>
          </a:prstGeom>
          <a:solidFill>
            <a:srgbClr val="FFFFFF"/>
          </a:solidFill>
          <a:ln w="9144">
            <a:solidFill>
              <a:srgbClr val="DEE2E6"/>
            </a:solidFill>
            <a:prstDash val="solid"/>
          </a:ln>
        </p:spPr>
        <p:txBody>
          <a:bodyPr/>
          <a:lstStyle/>
          <a:p>
            <a:endParaRPr lang="hr-HR"/>
          </a:p>
        </p:txBody>
      </p:sp>
      <p:sp>
        <p:nvSpPr>
          <p:cNvPr id="10" name="Text 6"/>
          <p:cNvSpPr/>
          <p:nvPr/>
        </p:nvSpPr>
        <p:spPr>
          <a:xfrm>
            <a:off x="4736306" y="1327007"/>
            <a:ext cx="275034" cy="228600"/>
          </a:xfrm>
          <a:prstGeom prst="rect">
            <a:avLst/>
          </a:prstGeom>
          <a:noFill/>
          <a:ln/>
        </p:spPr>
        <p:txBody>
          <a:bodyPr wrap="none" lIns="0" tIns="0" rIns="0" bIns="0" rtlCol="0" anchor="t">
            <a:spAutoFit/>
          </a:bodyPr>
          <a:lstStyle/>
          <a:p>
            <a:pPr marL="0" indent="0" algn="l">
              <a:lnSpc>
                <a:spcPct val="80000"/>
              </a:lnSpc>
              <a:buNone/>
            </a:pPr>
            <a:r>
              <a:rPr lang="en-US" sz="1600" dirty="0">
                <a:solidFill>
                  <a:srgbClr val="0D6EFD"/>
                </a:solidFill>
                <a:latin typeface="JetBrains Mono SemiBold" pitchFamily="34" charset="0"/>
                <a:ea typeface="JetBrains Mono SemiBold" pitchFamily="34" charset="-122"/>
                <a:cs typeface="JetBrains Mono SemiBold" pitchFamily="34" charset="-120"/>
              </a:rPr>
              <a:t>2.</a:t>
            </a:r>
            <a:endParaRPr lang="en-US" sz="1600" dirty="0"/>
          </a:p>
        </p:txBody>
      </p:sp>
      <p:sp>
        <p:nvSpPr>
          <p:cNvPr id="11" name="Text 7"/>
          <p:cNvSpPr/>
          <p:nvPr/>
        </p:nvSpPr>
        <p:spPr>
          <a:xfrm>
            <a:off x="5097066" y="1469882"/>
            <a:ext cx="2675334" cy="182166"/>
          </a:xfrm>
          <a:prstGeom prst="rect">
            <a:avLst/>
          </a:prstGeom>
          <a:noFill/>
          <a:ln/>
        </p:spPr>
        <p:txBody>
          <a:bodyPr wrap="square" lIns="0" tIns="0" rIns="0" bIns="0" rtlCol="0" anchor="t">
            <a:spAutoFit/>
          </a:bodyPr>
          <a:lstStyle/>
          <a:p>
            <a:pPr marL="0" indent="0" algn="l">
              <a:buNone/>
            </a:pPr>
            <a:r>
              <a:rPr lang="en-US" sz="1000" b="1" dirty="0">
                <a:solidFill>
                  <a:srgbClr val="212529"/>
                </a:solidFill>
                <a:latin typeface="Space Grotesk SemiBold" pitchFamily="34" charset="0"/>
                <a:ea typeface="Space Grotesk SemiBold" pitchFamily="34" charset="-122"/>
                <a:cs typeface="Space Grotesk SemiBold" pitchFamily="34" charset="-120"/>
              </a:rPr>
              <a:t>Preuzmite repozitorij</a:t>
            </a:r>
            <a:endParaRPr lang="en-US" sz="1000" dirty="0"/>
          </a:p>
        </p:txBody>
      </p:sp>
      <p:sp>
        <p:nvSpPr>
          <p:cNvPr id="12" name="Text 8"/>
          <p:cNvSpPr/>
          <p:nvPr/>
        </p:nvSpPr>
        <p:spPr>
          <a:xfrm>
            <a:off x="5097066" y="1694910"/>
            <a:ext cx="2675334" cy="150019"/>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495057"/>
                </a:solidFill>
                <a:latin typeface="Inter" pitchFamily="34" charset="0"/>
                <a:ea typeface="Inter" pitchFamily="34" charset="-122"/>
                <a:cs typeface="Inter" pitchFamily="34" charset="-120"/>
              </a:rPr>
              <a:t>Klonirajte fakultetski Template s potrebnim stilovima.</a:t>
            </a:r>
            <a:endParaRPr lang="en-US" sz="800" dirty="0"/>
          </a:p>
        </p:txBody>
      </p:sp>
      <p:sp>
        <p:nvSpPr>
          <p:cNvPr id="13" name="Shape 9"/>
          <p:cNvSpPr/>
          <p:nvPr/>
        </p:nvSpPr>
        <p:spPr>
          <a:xfrm>
            <a:off x="342900" y="2002092"/>
            <a:ext cx="4193381" cy="703659"/>
          </a:xfrm>
          <a:prstGeom prst="rect">
            <a:avLst/>
          </a:prstGeom>
          <a:solidFill>
            <a:srgbClr val="FFFFFF"/>
          </a:solidFill>
          <a:ln w="9144">
            <a:solidFill>
              <a:srgbClr val="DEE2E6"/>
            </a:solidFill>
            <a:prstDash val="solid"/>
          </a:ln>
        </p:spPr>
        <p:txBody>
          <a:bodyPr/>
          <a:lstStyle/>
          <a:p>
            <a:endParaRPr lang="hr-HR"/>
          </a:p>
        </p:txBody>
      </p:sp>
      <p:sp>
        <p:nvSpPr>
          <p:cNvPr id="14" name="Text 10"/>
          <p:cNvSpPr/>
          <p:nvPr/>
        </p:nvSpPr>
        <p:spPr>
          <a:xfrm>
            <a:off x="471488" y="2087817"/>
            <a:ext cx="275034" cy="228600"/>
          </a:xfrm>
          <a:prstGeom prst="rect">
            <a:avLst/>
          </a:prstGeom>
          <a:noFill/>
          <a:ln/>
        </p:spPr>
        <p:txBody>
          <a:bodyPr wrap="none" lIns="0" tIns="0" rIns="0" bIns="0" rtlCol="0" anchor="t">
            <a:spAutoFit/>
          </a:bodyPr>
          <a:lstStyle/>
          <a:p>
            <a:pPr marL="0" indent="0" algn="l">
              <a:lnSpc>
                <a:spcPct val="80000"/>
              </a:lnSpc>
              <a:buNone/>
            </a:pPr>
            <a:r>
              <a:rPr lang="en-US" sz="1600" dirty="0">
                <a:solidFill>
                  <a:srgbClr val="0D6EFD"/>
                </a:solidFill>
                <a:latin typeface="JetBrains Mono SemiBold" pitchFamily="34" charset="0"/>
                <a:ea typeface="JetBrains Mono SemiBold" pitchFamily="34" charset="-122"/>
                <a:cs typeface="JetBrains Mono SemiBold" pitchFamily="34" charset="-120"/>
              </a:rPr>
              <a:t>3.</a:t>
            </a:r>
            <a:endParaRPr lang="en-US" sz="1600" dirty="0"/>
          </a:p>
        </p:txBody>
      </p:sp>
      <p:sp>
        <p:nvSpPr>
          <p:cNvPr id="15" name="Text 11"/>
          <p:cNvSpPr/>
          <p:nvPr/>
        </p:nvSpPr>
        <p:spPr>
          <a:xfrm>
            <a:off x="832247" y="2230692"/>
            <a:ext cx="3227189" cy="182166"/>
          </a:xfrm>
          <a:prstGeom prst="rect">
            <a:avLst/>
          </a:prstGeom>
          <a:noFill/>
          <a:ln/>
        </p:spPr>
        <p:txBody>
          <a:bodyPr wrap="square" lIns="0" tIns="0" rIns="0" bIns="0" rtlCol="0" anchor="t">
            <a:spAutoFit/>
          </a:bodyPr>
          <a:lstStyle/>
          <a:p>
            <a:pPr marL="0" indent="0" algn="l">
              <a:buNone/>
            </a:pPr>
            <a:r>
              <a:rPr lang="en-US" sz="1000" b="1" dirty="0">
                <a:solidFill>
                  <a:srgbClr val="212529"/>
                </a:solidFill>
                <a:latin typeface="Space Grotesk SemiBold" pitchFamily="34" charset="0"/>
                <a:ea typeface="Space Grotesk SemiBold" pitchFamily="34" charset="-122"/>
                <a:cs typeface="Space Grotesk SemiBold" pitchFamily="34" charset="-120"/>
              </a:rPr>
              <a:t>Otvorite u Obsidianu</a:t>
            </a:r>
            <a:endParaRPr lang="en-US" sz="1000" dirty="0"/>
          </a:p>
        </p:txBody>
      </p:sp>
      <p:sp>
        <p:nvSpPr>
          <p:cNvPr id="16" name="Text 12"/>
          <p:cNvSpPr/>
          <p:nvPr/>
        </p:nvSpPr>
        <p:spPr>
          <a:xfrm>
            <a:off x="832247" y="2455720"/>
            <a:ext cx="3227189" cy="150019"/>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495057"/>
                </a:solidFill>
                <a:latin typeface="Inter" pitchFamily="34" charset="0"/>
                <a:ea typeface="Inter" pitchFamily="34" charset="-122"/>
                <a:cs typeface="Inter" pitchFamily="34" charset="-120"/>
              </a:rPr>
              <a:t>Uključite 'Obsidian Git' za automatsko spremanje svakih 15 min.</a:t>
            </a:r>
            <a:endParaRPr lang="en-US" sz="800" dirty="0"/>
          </a:p>
        </p:txBody>
      </p:sp>
      <p:sp>
        <p:nvSpPr>
          <p:cNvPr id="17" name="Shape 13"/>
          <p:cNvSpPr/>
          <p:nvPr/>
        </p:nvSpPr>
        <p:spPr>
          <a:xfrm>
            <a:off x="4607719" y="2002092"/>
            <a:ext cx="4193381" cy="703659"/>
          </a:xfrm>
          <a:prstGeom prst="rect">
            <a:avLst/>
          </a:prstGeom>
          <a:solidFill>
            <a:srgbClr val="FFFFFF"/>
          </a:solidFill>
          <a:ln w="9144">
            <a:solidFill>
              <a:srgbClr val="DEE2E6"/>
            </a:solidFill>
            <a:prstDash val="solid"/>
          </a:ln>
        </p:spPr>
        <p:txBody>
          <a:bodyPr/>
          <a:lstStyle/>
          <a:p>
            <a:endParaRPr lang="hr-HR"/>
          </a:p>
        </p:txBody>
      </p:sp>
      <p:sp>
        <p:nvSpPr>
          <p:cNvPr id="18" name="Text 14"/>
          <p:cNvSpPr/>
          <p:nvPr/>
        </p:nvSpPr>
        <p:spPr>
          <a:xfrm>
            <a:off x="4736306" y="2087817"/>
            <a:ext cx="275034" cy="228600"/>
          </a:xfrm>
          <a:prstGeom prst="rect">
            <a:avLst/>
          </a:prstGeom>
          <a:noFill/>
          <a:ln/>
        </p:spPr>
        <p:txBody>
          <a:bodyPr wrap="none" lIns="0" tIns="0" rIns="0" bIns="0" rtlCol="0" anchor="t">
            <a:spAutoFit/>
          </a:bodyPr>
          <a:lstStyle/>
          <a:p>
            <a:pPr marL="0" indent="0" algn="l">
              <a:lnSpc>
                <a:spcPct val="80000"/>
              </a:lnSpc>
              <a:buNone/>
            </a:pPr>
            <a:r>
              <a:rPr lang="en-US" sz="1600" dirty="0">
                <a:solidFill>
                  <a:srgbClr val="0D6EFD"/>
                </a:solidFill>
                <a:latin typeface="JetBrains Mono SemiBold" pitchFamily="34" charset="0"/>
                <a:ea typeface="JetBrains Mono SemiBold" pitchFamily="34" charset="-122"/>
                <a:cs typeface="JetBrains Mono SemiBold" pitchFamily="34" charset="-120"/>
              </a:rPr>
              <a:t>4.</a:t>
            </a:r>
            <a:endParaRPr lang="en-US" sz="1600" dirty="0"/>
          </a:p>
        </p:txBody>
      </p:sp>
      <p:sp>
        <p:nvSpPr>
          <p:cNvPr id="19" name="Text 15"/>
          <p:cNvSpPr/>
          <p:nvPr/>
        </p:nvSpPr>
        <p:spPr>
          <a:xfrm>
            <a:off x="5097066" y="2230692"/>
            <a:ext cx="3178969" cy="182166"/>
          </a:xfrm>
          <a:prstGeom prst="rect">
            <a:avLst/>
          </a:prstGeom>
          <a:noFill/>
          <a:ln/>
        </p:spPr>
        <p:txBody>
          <a:bodyPr wrap="square" lIns="0" tIns="0" rIns="0" bIns="0" rtlCol="0" anchor="t">
            <a:spAutoFit/>
          </a:bodyPr>
          <a:lstStyle/>
          <a:p>
            <a:pPr marL="0" indent="0" algn="l">
              <a:buNone/>
            </a:pPr>
            <a:r>
              <a:rPr lang="en-US" sz="1000" b="1" dirty="0">
                <a:solidFill>
                  <a:srgbClr val="212529"/>
                </a:solidFill>
                <a:latin typeface="Space Grotesk SemiBold" pitchFamily="34" charset="0"/>
                <a:ea typeface="Space Grotesk SemiBold" pitchFamily="34" charset="-122"/>
                <a:cs typeface="Space Grotesk SemiBold" pitchFamily="34" charset="-120"/>
              </a:rPr>
              <a:t>Počnite pisati</a:t>
            </a:r>
            <a:endParaRPr lang="en-US" sz="1000" dirty="0"/>
          </a:p>
        </p:txBody>
      </p:sp>
      <p:sp>
        <p:nvSpPr>
          <p:cNvPr id="20" name="Text 16"/>
          <p:cNvSpPr/>
          <p:nvPr/>
        </p:nvSpPr>
        <p:spPr>
          <a:xfrm>
            <a:off x="5097066" y="2455720"/>
            <a:ext cx="3178969" cy="150019"/>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495057"/>
                </a:solidFill>
                <a:latin typeface="Inter" pitchFamily="34" charset="0"/>
                <a:ea typeface="Inter" pitchFamily="34" charset="-122"/>
                <a:cs typeface="Inter" pitchFamily="34" charset="-120"/>
              </a:rPr>
              <a:t>Pišite fokusirano na tekst i strukturu; dizajn prepustite sustavu.</a:t>
            </a:r>
            <a:endParaRPr lang="en-US" sz="800" dirty="0"/>
          </a:p>
        </p:txBody>
      </p:sp>
      <p:sp>
        <p:nvSpPr>
          <p:cNvPr id="22" name="Text 18"/>
          <p:cNvSpPr/>
          <p:nvPr/>
        </p:nvSpPr>
        <p:spPr>
          <a:xfrm>
            <a:off x="471488" y="2891489"/>
            <a:ext cx="8201025" cy="146194"/>
          </a:xfrm>
          <a:prstGeom prst="rect">
            <a:avLst/>
          </a:prstGeom>
          <a:noFill/>
          <a:ln/>
        </p:spPr>
        <p:txBody>
          <a:bodyPr wrap="square" lIns="0" tIns="0" rIns="0" bIns="0" rtlCol="0" anchor="t">
            <a:spAutoFit/>
          </a:bodyPr>
          <a:lstStyle/>
          <a:p>
            <a:pPr marL="0" indent="0" algn="ctr">
              <a:buNone/>
            </a:pP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sustava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1592</Words>
  <Application>Microsoft Office PowerPoint</Application>
  <PresentationFormat>Prikaz na zaslonu (16:9)</PresentationFormat>
  <Paragraphs>121</Paragraphs>
  <Slides>10</Slides>
  <Notes>10</Notes>
  <HiddenSlides>0</HiddenSlides>
  <MMClips>0</MMClips>
  <ScaleCrop>false</ScaleCrop>
  <HeadingPairs>
    <vt:vector size="6" baseType="variant">
      <vt:variant>
        <vt:lpstr>Korišteni fontovi</vt:lpstr>
      </vt:variant>
      <vt:variant>
        <vt:i4>4</vt:i4>
      </vt:variant>
      <vt:variant>
        <vt:lpstr>Tema</vt:lpstr>
      </vt:variant>
      <vt:variant>
        <vt:i4>1</vt:i4>
      </vt:variant>
      <vt:variant>
        <vt:lpstr>Naslovi slajdova</vt:lpstr>
      </vt:variant>
      <vt:variant>
        <vt:i4>10</vt:i4>
      </vt:variant>
    </vt:vector>
  </HeadingPairs>
  <TitlesOfParts>
    <vt:vector size="15" baseType="lpstr">
      <vt:lpstr>Arial</vt:lpstr>
      <vt:lpstr>Inter</vt:lpstr>
      <vt:lpstr>JetBrains Mono SemiBold</vt:lpstr>
      <vt:lpstr>Space Grotesk SemiBold</vt:lpstr>
      <vt:lpstr>Office Theme</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Mario Lipovac</cp:lastModifiedBy>
  <cp:revision>4</cp:revision>
  <dcterms:created xsi:type="dcterms:W3CDTF">2026-05-03T09:25:11Z</dcterms:created>
  <dcterms:modified xsi:type="dcterms:W3CDTF">2026-05-03T22:05:22Z</dcterms:modified>
</cp:coreProperties>
</file>